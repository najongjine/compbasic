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FB80D-48F9-B1AF-4D96-CC5CC5BE2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9FB209-9EC3-80AB-5B1B-0D3A5978A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5E2C9-FFAE-840A-E101-73CD4ECE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433D17-2E03-8C93-8A3D-1D8BD6AB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ECEB9F-DEDC-FFB8-4E1E-C008E90A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650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35A1E-851A-EBD7-9F96-844678AB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D9AA5-5633-2825-A0D9-02FF4157E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0C5304-170A-E95A-53CF-DF9A4F21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083293-5A86-7B08-69FC-81618B61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176A6D-B975-8B0F-E803-C11A3F191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089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DBD91-70E7-357F-9F35-9FDF0D834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711A21-3135-4815-92EF-A2D9308B0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C23510-4ADD-C568-A783-F42E0786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DA8217-08C2-C995-2055-B921D27E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53A3B3-17D5-7579-D8A0-00A1F6CF1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54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B94D7-96DB-6999-90C4-E338D8CF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AC679-C426-0AFC-AC4E-A858E26494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C768FE-3675-0589-47EF-65A89497B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CDF585-8BF5-D771-A449-7A7986B3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1C19AA-DF8E-E9C6-265D-B7D7CC1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ED0579-0060-61E7-76C6-08551E9E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84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610AB-8367-DBA3-F89F-2C173E8F4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8857D5-CE9F-1A15-CCED-ED096AA87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D03273-88B4-BC90-F4F8-ED86CFE99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D95289-7AA2-05C7-247B-19E5D323F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8DEC56-7D5C-44F8-AB77-373EB0CBE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0AEF5A-A8EE-2130-9A7B-CB674CA4D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C84327-13D4-13DD-77E4-9362BA1C7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2BE054-12AB-06C5-4B3C-01652CD28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67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583A7-0E33-3303-7E63-56B7783D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50C3C6-BD60-3FC5-F136-369A3A614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DA2719-D59C-28AE-165A-0E8D565E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E20F0E-7018-4AC5-F73A-3293F55F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6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F17CBB-56D7-E170-FD8F-9B9B16EC0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C0E949-BFA8-D0AC-AAFD-6C3213B8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30CBF-366E-82CC-0823-60E63C58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847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64B44-29EF-EB62-2CA5-418492C2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8196D7-F874-E29E-6B35-2D86A6C20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9ED313-42C7-2CB2-6D95-5396ECF69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9B0A8-30EA-AA80-F346-B9CF8D47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161B2D-9958-1AC3-1E45-5EC8B88C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7FED55-1584-C94D-DF13-709F0ECF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942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01C22-78EC-74BA-EF30-7CA863560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446CA2-0785-9D07-0865-53C0383B2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DC0B4C-8FEE-2C39-AC53-FC33376AA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C2A82-7DD7-7263-706E-985A0828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814A9B-190C-C83C-FCB2-24B79A860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DD51AF-31E8-1271-8E3F-5232BF50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44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046CD-4BDF-F9C6-1AE7-F421F8C3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C9CD38-9387-4458-5422-0FBCCF7D5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7AFF2B-50D9-618F-A4E1-21BC741D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2884A0-A438-1F7B-0BD6-C56F89076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1C1F1B-6F9D-EA14-4042-F9BF33E4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91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A3DB0F-36EC-3A9C-1BF8-3CF718172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97D292-30FE-AA70-C921-BDA14354E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0E8F27-D2FB-F5C7-09A1-F5845029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E2AD8A-809C-2CC9-3798-FF17FB24B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E736C0-5C76-E721-4282-02C60A75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853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329070-0F50-A1BF-3523-04C5663B5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8690DE-EF59-598C-367B-6ADE7FC9B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F1E6A-0AE0-FE7B-811F-3D01EDBA1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A9C43-C114-45CA-9682-3A4E57D8BCCB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1F87F8-5601-B746-94C6-7DEA4AF40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E170C8-6FAF-A2FC-9C9E-C685654E3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5DB9F-986E-4F89-892A-686519714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01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%EB%8B%B4%EB%B9%84+%EB%8F%99%EB%AC%BC+%EC%98%81%EC%83%81" TargetMode="External"/><Relationship Id="rId2" Type="http://schemas.openxmlformats.org/officeDocument/2006/relationships/hyperlink" Target="https://www.youtube.com/watch?v=LNW0MCpg3oU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ee.go.kr/home/web/board/read.do?boardId=1867680&amp;boardMasterId=939&amp;menuId=10598" TargetMode="External"/><Relationship Id="rId2" Type="http://schemas.openxmlformats.org/officeDocument/2006/relationships/hyperlink" Target="https://encykorea.aks.ac.kr/Article/E0013917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erms.naver.com/entry.naver?docId=1080300&amp;cid=40942&amp;categoryId=326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887AFE6-C89A-4F53-5318-E361228F6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1" y="-3647"/>
            <a:ext cx="12198482" cy="686529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768E34B-03E8-7BC4-5CD0-741A496A45F5}"/>
              </a:ext>
            </a:extLst>
          </p:cNvPr>
          <p:cNvSpPr/>
          <p:nvPr/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rgbClr val="141C19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669C7-DBC6-EAC2-6412-86C4F17577DA}"/>
              </a:ext>
            </a:extLst>
          </p:cNvPr>
          <p:cNvSpPr txBox="1"/>
          <p:nvPr/>
        </p:nvSpPr>
        <p:spPr>
          <a:xfrm>
            <a:off x="660400" y="1473200"/>
            <a:ext cx="4445000" cy="133369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</a:rPr>
              <a:t>담비</a:t>
            </a:r>
          </a:p>
          <a:p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</a:rPr>
              <a:t>동물 백과사전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46080-D602-C3EB-3B6C-9ACD57F23857}"/>
              </a:ext>
            </a:extLst>
          </p:cNvPr>
          <p:cNvSpPr txBox="1"/>
          <p:nvPr/>
        </p:nvSpPr>
        <p:spPr>
          <a:xfrm>
            <a:off x="736600" y="3200400"/>
            <a:ext cx="4191000" cy="6873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900">
                <a:solidFill>
                  <a:srgbClr val="E1EBDE"/>
                </a:solidFill>
                <a:latin typeface="맑은 고딕" panose="020B0503020000020004" pitchFamily="50" charset="-127"/>
              </a:rPr>
              <a:t>Yellow-throated marten</a:t>
            </a:r>
          </a:p>
          <a:p>
            <a:r>
              <a:rPr lang="en-US" altLang="ko-KR" sz="1900">
                <a:solidFill>
                  <a:srgbClr val="E1EBDE"/>
                </a:solidFill>
                <a:latin typeface="맑은 고딕" panose="020B0503020000020004" pitchFamily="50" charset="-127"/>
              </a:rPr>
              <a:t>Martes flavigula</a:t>
            </a:r>
            <a:endParaRPr lang="ko-KR" altLang="en-US" sz="1900">
              <a:solidFill>
                <a:srgbClr val="E1EBD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6A78C-2616-4532-4FD0-87F9034DA0F5}"/>
              </a:ext>
            </a:extLst>
          </p:cNvPr>
          <p:cNvSpPr txBox="1"/>
          <p:nvPr/>
        </p:nvSpPr>
        <p:spPr>
          <a:xfrm>
            <a:off x="762000" y="5562600"/>
            <a:ext cx="4318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300">
                <a:solidFill>
                  <a:srgbClr val="DDE6D9"/>
                </a:solidFill>
                <a:latin typeface="맑은 고딕" panose="020B0503020000020004" pitchFamily="50" charset="-127"/>
              </a:rPr>
              <a:t>PPT </a:t>
            </a:r>
            <a:r>
              <a:rPr lang="ko-KR" altLang="en-US" sz="1300">
                <a:solidFill>
                  <a:srgbClr val="DDE6D9"/>
                </a:solidFill>
                <a:latin typeface="맑은 고딕" panose="020B0503020000020004" pitchFamily="50" charset="-127"/>
              </a:rPr>
              <a:t>스톡 이미지 느낌의 야생동물 사진 사용</a:t>
            </a:r>
          </a:p>
        </p:txBody>
      </p:sp>
    </p:spTree>
    <p:extLst>
      <p:ext uri="{BB962C8B-B14F-4D97-AF65-F5344CB8AC3E}">
        <p14:creationId xmlns:p14="http://schemas.microsoft.com/office/powerpoint/2010/main" val="3111261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46C00B-E318-69C3-76DE-12031356103E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21B1C"/>
                </a:solidFill>
                <a:latin typeface="맑은 고딕" panose="020B0503020000020004" pitchFamily="50" charset="-127"/>
              </a:rPr>
              <a:t>한눈에 보는 담비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44BC1-D07B-C9EE-ADBB-BAEA16E9EF3C}"/>
              </a:ext>
            </a:extLst>
          </p:cNvPr>
          <p:cNvSpPr txBox="1"/>
          <p:nvPr/>
        </p:nvSpPr>
        <p:spPr>
          <a:xfrm>
            <a:off x="660400" y="1066800"/>
            <a:ext cx="9906000" cy="29495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45F60"/>
                </a:solidFill>
                <a:latin typeface="맑은 고딕" panose="020B0503020000020004" pitchFamily="50" charset="-127"/>
              </a:rPr>
              <a:t>식육목 족제비과에 속하는 야생 포유류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0AFA13-88AD-78EA-0EF5-54B6CC454E3F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577E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A5CA4F-CF28-D858-4340-559034306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946" y="2579746"/>
            <a:ext cx="1469907" cy="1469907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6CBA206-0958-224B-D42E-A183D83148D5}"/>
              </a:ext>
            </a:extLst>
          </p:cNvPr>
          <p:cNvSpPr/>
          <p:nvPr/>
        </p:nvSpPr>
        <p:spPr>
          <a:xfrm>
            <a:off x="889000" y="2006600"/>
            <a:ext cx="2984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949AF-880E-7B37-BDAC-EC803FD5465A}"/>
              </a:ext>
            </a:extLst>
          </p:cNvPr>
          <p:cNvSpPr txBox="1"/>
          <p:nvPr/>
        </p:nvSpPr>
        <p:spPr>
          <a:xfrm>
            <a:off x="1092200" y="2159000"/>
            <a:ext cx="25781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 b="1">
                <a:solidFill>
                  <a:srgbClr val="577E53"/>
                </a:solidFill>
                <a:latin typeface="맑은 고딕" panose="020B0503020000020004" pitchFamily="50" charset="-127"/>
              </a:rPr>
              <a:t>분류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0B8816-9185-A680-AB76-51C246883973}"/>
              </a:ext>
            </a:extLst>
          </p:cNvPr>
          <p:cNvSpPr txBox="1"/>
          <p:nvPr/>
        </p:nvSpPr>
        <p:spPr>
          <a:xfrm>
            <a:off x="1092200" y="2501900"/>
            <a:ext cx="2578100" cy="62581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포유류 </a:t>
            </a:r>
            <a:r>
              <a:rPr lang="en-US" altLang="ko-KR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식육목 </a:t>
            </a:r>
            <a:r>
              <a:rPr lang="en-US" altLang="ko-KR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족제비과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9846D33-D318-BC2E-0020-1B22CD39BF80}"/>
              </a:ext>
            </a:extLst>
          </p:cNvPr>
          <p:cNvSpPr/>
          <p:nvPr/>
        </p:nvSpPr>
        <p:spPr>
          <a:xfrm>
            <a:off x="4140200" y="2006600"/>
            <a:ext cx="2984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37513D-F95E-D832-CB0A-651AF89ECC38}"/>
              </a:ext>
            </a:extLst>
          </p:cNvPr>
          <p:cNvSpPr txBox="1"/>
          <p:nvPr/>
        </p:nvSpPr>
        <p:spPr>
          <a:xfrm>
            <a:off x="4343400" y="2159000"/>
            <a:ext cx="25781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 b="1">
                <a:solidFill>
                  <a:srgbClr val="577E53"/>
                </a:solidFill>
                <a:latin typeface="맑은 고딕" panose="020B0503020000020004" pitchFamily="50" charset="-127"/>
              </a:rPr>
              <a:t>학명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E43D6-2CA3-3930-15BF-37E283B103CE}"/>
              </a:ext>
            </a:extLst>
          </p:cNvPr>
          <p:cNvSpPr txBox="1"/>
          <p:nvPr/>
        </p:nvSpPr>
        <p:spPr>
          <a:xfrm>
            <a:off x="4343400" y="2501900"/>
            <a:ext cx="25781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Martes flavigula</a:t>
            </a:r>
            <a:endParaRPr lang="ko-KR" altLang="en-US" sz="1700" b="1">
              <a:solidFill>
                <a:srgbClr val="1F272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DEAE821-0128-B227-6E36-6BEA79C090C5}"/>
              </a:ext>
            </a:extLst>
          </p:cNvPr>
          <p:cNvSpPr/>
          <p:nvPr/>
        </p:nvSpPr>
        <p:spPr>
          <a:xfrm>
            <a:off x="889000" y="3530600"/>
            <a:ext cx="29845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267B63-4EF5-CB33-5526-236AF31C5133}"/>
              </a:ext>
            </a:extLst>
          </p:cNvPr>
          <p:cNvSpPr txBox="1"/>
          <p:nvPr/>
        </p:nvSpPr>
        <p:spPr>
          <a:xfrm>
            <a:off x="1092200" y="3683000"/>
            <a:ext cx="25781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 b="1">
                <a:solidFill>
                  <a:srgbClr val="577E53"/>
                </a:solidFill>
                <a:latin typeface="맑은 고딕" panose="020B0503020000020004" pitchFamily="50" charset="-127"/>
              </a:rPr>
              <a:t>몸길이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DF8423-F715-5693-6082-F5C198A936D8}"/>
              </a:ext>
            </a:extLst>
          </p:cNvPr>
          <p:cNvSpPr txBox="1"/>
          <p:nvPr/>
        </p:nvSpPr>
        <p:spPr>
          <a:xfrm>
            <a:off x="1092200" y="4025900"/>
            <a:ext cx="2578100" cy="62581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약 </a:t>
            </a:r>
            <a:r>
              <a:rPr lang="en-US" altLang="ko-KR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55~65cm, </a:t>
            </a:r>
            <a:r>
              <a:rPr lang="ko-KR" altLang="en-US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꼬리 약 </a:t>
            </a:r>
            <a:r>
              <a:rPr lang="en-US" altLang="ko-KR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40~45cm</a:t>
            </a:r>
            <a:endParaRPr lang="ko-KR" altLang="en-US" sz="1700" b="1">
              <a:solidFill>
                <a:srgbClr val="1F272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050C2DC-3409-6728-C906-9B43206BBF55}"/>
              </a:ext>
            </a:extLst>
          </p:cNvPr>
          <p:cNvSpPr/>
          <p:nvPr/>
        </p:nvSpPr>
        <p:spPr>
          <a:xfrm>
            <a:off x="4140200" y="3530600"/>
            <a:ext cx="29845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43B4D7-72C6-91B8-A6F1-2B919834656C}"/>
              </a:ext>
            </a:extLst>
          </p:cNvPr>
          <p:cNvSpPr txBox="1"/>
          <p:nvPr/>
        </p:nvSpPr>
        <p:spPr>
          <a:xfrm>
            <a:off x="4343400" y="3683000"/>
            <a:ext cx="2578100" cy="2872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00" b="1">
                <a:solidFill>
                  <a:srgbClr val="577E53"/>
                </a:solidFill>
                <a:latin typeface="맑은 고딕" panose="020B0503020000020004" pitchFamily="50" charset="-127"/>
              </a:rPr>
              <a:t>별명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448E3-F53C-A9D5-B3F2-9A20460EBD2D}"/>
              </a:ext>
            </a:extLst>
          </p:cNvPr>
          <p:cNvSpPr txBox="1"/>
          <p:nvPr/>
        </p:nvSpPr>
        <p:spPr>
          <a:xfrm>
            <a:off x="4343400" y="4025900"/>
            <a:ext cx="2578100" cy="3642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700" b="1">
                <a:solidFill>
                  <a:srgbClr val="1F2726"/>
                </a:solidFill>
                <a:latin typeface="맑은 고딕" panose="020B0503020000020004" pitchFamily="50" charset="-127"/>
              </a:rPr>
              <a:t>목과 가슴이 노란 담비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EA484E-CB88-662E-3149-AC776E2657F4}"/>
              </a:ext>
            </a:extLst>
          </p:cNvPr>
          <p:cNvSpPr txBox="1"/>
          <p:nvPr/>
        </p:nvSpPr>
        <p:spPr>
          <a:xfrm>
            <a:off x="965200" y="5410200"/>
            <a:ext cx="96520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b="1">
                <a:solidFill>
                  <a:srgbClr val="577E53"/>
                </a:solidFill>
                <a:latin typeface="맑은 고딕" panose="020B0503020000020004" pitchFamily="50" charset="-127"/>
              </a:rPr>
              <a:t>검은 얼굴과 다리</a:t>
            </a:r>
            <a:r>
              <a:rPr lang="en-US" altLang="ko-KR" b="1">
                <a:solidFill>
                  <a:srgbClr val="577E5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577E53"/>
                </a:solidFill>
                <a:latin typeface="맑은 고딕" panose="020B0503020000020004" pitchFamily="50" charset="-127"/>
              </a:rPr>
              <a:t>노란 목과 가슴</a:t>
            </a:r>
            <a:r>
              <a:rPr lang="en-US" altLang="ko-KR" b="1">
                <a:solidFill>
                  <a:srgbClr val="577E5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577E53"/>
                </a:solidFill>
                <a:latin typeface="맑은 고딕" panose="020B0503020000020004" pitchFamily="50" charset="-127"/>
              </a:rPr>
              <a:t>긴 꼬리가 눈에 띄는 산림성 동물입니다</a:t>
            </a:r>
            <a:r>
              <a:rPr lang="en-US" altLang="ko-KR" b="1">
                <a:solidFill>
                  <a:srgbClr val="577E53"/>
                </a:solidFill>
                <a:latin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577E53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8842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C3373B-0D24-2B1C-CFAA-457A2D9B38C1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21B1C"/>
                </a:solidFill>
                <a:latin typeface="맑은 고딕" panose="020B0503020000020004" pitchFamily="50" charset="-127"/>
              </a:rPr>
              <a:t>생김새와 특징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D4893-ACF6-BEC6-801D-1105F3EBF269}"/>
              </a:ext>
            </a:extLst>
          </p:cNvPr>
          <p:cNvSpPr txBox="1"/>
          <p:nvPr/>
        </p:nvSpPr>
        <p:spPr>
          <a:xfrm>
            <a:off x="660400" y="1066800"/>
            <a:ext cx="9906000" cy="29495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45F60"/>
                </a:solidFill>
                <a:latin typeface="맑은 고딕" panose="020B0503020000020004" pitchFamily="50" charset="-127"/>
              </a:rPr>
              <a:t>빠르고 민첩한 숲의 사냥꾼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0EE26E-F41B-E204-1EF5-068C9B5CD746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577E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035C05-088E-B4DB-6EBB-094EAA02E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710" y="2833746"/>
            <a:ext cx="2611780" cy="14699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DEF055-206F-395F-A6A7-3EF5ADD127F1}"/>
              </a:ext>
            </a:extLst>
          </p:cNvPr>
          <p:cNvSpPr txBox="1"/>
          <p:nvPr/>
        </p:nvSpPr>
        <p:spPr>
          <a:xfrm>
            <a:off x="6477000" y="1955800"/>
            <a:ext cx="4572000" cy="323165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6302E"/>
                </a:solidFill>
                <a:latin typeface="맑은 고딕" panose="020B0503020000020004" pitchFamily="50" charset="-127"/>
              </a:rPr>
              <a:t>몸은 길고 날씬하며 다리는 비교적 짧음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6302E"/>
                </a:solidFill>
                <a:latin typeface="맑은 고딕" panose="020B0503020000020004" pitchFamily="50" charset="-127"/>
              </a:rPr>
              <a:t>나무를 잘 타고 바위와 숲길을 빠르게 이동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6302E"/>
                </a:solidFill>
                <a:latin typeface="맑은 고딕" panose="020B0503020000020004" pitchFamily="50" charset="-127"/>
              </a:rPr>
              <a:t>노란 목과 가슴</a:t>
            </a:r>
            <a:r>
              <a:rPr lang="en-US" altLang="ko-KR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26302E"/>
                </a:solidFill>
                <a:latin typeface="맑은 고딕" panose="020B0503020000020004" pitchFamily="50" charset="-127"/>
              </a:rPr>
              <a:t>어두운 얼굴과 꼬리가 대표 특징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6302E"/>
                </a:solidFill>
                <a:latin typeface="맑은 고딕" panose="020B0503020000020004" pitchFamily="50" charset="-127"/>
              </a:rPr>
              <a:t>시각</a:t>
            </a:r>
            <a:r>
              <a:rPr lang="en-US" altLang="ko-KR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26302E"/>
                </a:solidFill>
                <a:latin typeface="맑은 고딕" panose="020B0503020000020004" pitchFamily="50" charset="-127"/>
              </a:rPr>
              <a:t>후각</a:t>
            </a:r>
            <a:r>
              <a:rPr lang="en-US" altLang="ko-KR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26302E"/>
                </a:solidFill>
                <a:latin typeface="맑은 고딕" panose="020B0503020000020004" pitchFamily="50" charset="-127"/>
              </a:rPr>
              <a:t>청각이 발달해 먹이를 찾는 데 유리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>
                <a:solidFill>
                  <a:srgbClr val="26302E"/>
                </a:solidFill>
                <a:latin typeface="맑은 고딕" panose="020B0503020000020004" pitchFamily="50" charset="-127"/>
              </a:rPr>
              <a:t>단독 또는 작은 무리로 움직이는 모습이 관찰됨</a:t>
            </a:r>
          </a:p>
        </p:txBody>
      </p:sp>
    </p:spTree>
    <p:extLst>
      <p:ext uri="{BB962C8B-B14F-4D97-AF65-F5344CB8AC3E}">
        <p14:creationId xmlns:p14="http://schemas.microsoft.com/office/powerpoint/2010/main" val="218655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F2D8CC-29C8-51C5-93B1-2102DC2243EE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21B1C"/>
                </a:solidFill>
                <a:latin typeface="맑은 고딕" panose="020B0503020000020004" pitchFamily="50" charset="-127"/>
              </a:rPr>
              <a:t>서식지와 먹이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205F8-C4FE-588D-C712-CD5B6A0CA04E}"/>
              </a:ext>
            </a:extLst>
          </p:cNvPr>
          <p:cNvSpPr txBox="1"/>
          <p:nvPr/>
        </p:nvSpPr>
        <p:spPr>
          <a:xfrm>
            <a:off x="660400" y="1066800"/>
            <a:ext cx="9906000" cy="29495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45F60"/>
                </a:solidFill>
                <a:latin typeface="맑은 고딕" panose="020B0503020000020004" pitchFamily="50" charset="-127"/>
              </a:rPr>
              <a:t>산림 생태계에서 중요한 포식자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2D4B1A-B012-8C12-9DC8-C0BE93934D03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577E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4A34EB-B115-8697-D3D3-86DA5D810E56}"/>
              </a:ext>
            </a:extLst>
          </p:cNvPr>
          <p:cNvSpPr/>
          <p:nvPr/>
        </p:nvSpPr>
        <p:spPr>
          <a:xfrm>
            <a:off x="889000" y="1930400"/>
            <a:ext cx="4953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1A8F2-FE4F-431A-6C8A-A514B54F6185}"/>
              </a:ext>
            </a:extLst>
          </p:cNvPr>
          <p:cNvSpPr txBox="1"/>
          <p:nvPr/>
        </p:nvSpPr>
        <p:spPr>
          <a:xfrm>
            <a:off x="1295400" y="2336800"/>
            <a:ext cx="3810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121B1C"/>
                </a:solidFill>
                <a:latin typeface="맑은 고딕" panose="020B0503020000020004" pitchFamily="50" charset="-127"/>
              </a:rPr>
              <a:t>사는 곳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01DFE-BBC1-5818-4B3D-27BA0A048A74}"/>
              </a:ext>
            </a:extLst>
          </p:cNvPr>
          <p:cNvSpPr txBox="1"/>
          <p:nvPr/>
        </p:nvSpPr>
        <p:spPr>
          <a:xfrm>
            <a:off x="1295400" y="2895600"/>
            <a:ext cx="3810000" cy="185178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한국의 산림</a:t>
            </a:r>
            <a:r>
              <a:rPr lang="en-US" altLang="ko-KR" sz="1700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계곡 주변</a:t>
            </a:r>
            <a:r>
              <a:rPr lang="en-US" altLang="ko-KR" sz="1700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숲이 이어진 지역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동아시아와 동남아시아의 산림 지대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나무와 바위</a:t>
            </a:r>
            <a:r>
              <a:rPr lang="en-US" altLang="ko-KR" sz="1700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덤불이 많은 환경을 선호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52B20B-8877-EABE-8D23-86B65A141A02}"/>
              </a:ext>
            </a:extLst>
          </p:cNvPr>
          <p:cNvSpPr/>
          <p:nvPr/>
        </p:nvSpPr>
        <p:spPr>
          <a:xfrm>
            <a:off x="6350000" y="1930400"/>
            <a:ext cx="4953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F5B93-D4E7-A482-A05D-3FDB4876378A}"/>
              </a:ext>
            </a:extLst>
          </p:cNvPr>
          <p:cNvSpPr txBox="1"/>
          <p:nvPr/>
        </p:nvSpPr>
        <p:spPr>
          <a:xfrm>
            <a:off x="6756400" y="2336800"/>
            <a:ext cx="3810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121B1C"/>
                </a:solidFill>
                <a:latin typeface="맑은 고딕" panose="020B0503020000020004" pitchFamily="50" charset="-127"/>
              </a:rPr>
              <a:t>먹이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87EFDD-B8D3-1CAB-0CB7-F3D07D984637}"/>
              </a:ext>
            </a:extLst>
          </p:cNvPr>
          <p:cNvSpPr txBox="1"/>
          <p:nvPr/>
        </p:nvSpPr>
        <p:spPr>
          <a:xfrm>
            <a:off x="6756400" y="2895600"/>
            <a:ext cx="3810000" cy="194155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쥐</a:t>
            </a:r>
            <a:r>
              <a:rPr lang="en-US" altLang="ko-KR" sz="1700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다람쥐</a:t>
            </a:r>
            <a:r>
              <a:rPr lang="en-US" altLang="ko-KR" sz="1700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새</a:t>
            </a:r>
            <a:r>
              <a:rPr lang="en-US" altLang="ko-KR" sz="1700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알</a:t>
            </a:r>
            <a:r>
              <a:rPr lang="en-US" altLang="ko-KR" sz="1700">
                <a:solidFill>
                  <a:srgbClr val="26302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곤충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개구리와 작은 파충류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계절에 따라 열매와 식물성 먹이도 섭취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>
                <a:solidFill>
                  <a:srgbClr val="26302E"/>
                </a:solidFill>
                <a:latin typeface="맑은 고딕" panose="020B0503020000020004" pitchFamily="50" charset="-127"/>
              </a:rPr>
              <a:t>멧돼지 폐사체를 먹는 청소동물 역할도 함</a:t>
            </a:r>
          </a:p>
        </p:txBody>
      </p:sp>
    </p:spTree>
    <p:extLst>
      <p:ext uri="{BB962C8B-B14F-4D97-AF65-F5344CB8AC3E}">
        <p14:creationId xmlns:p14="http://schemas.microsoft.com/office/powerpoint/2010/main" val="3604973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96B18-76FA-0696-D980-CF845A3257ED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21B1C"/>
                </a:solidFill>
                <a:latin typeface="맑은 고딕" panose="020B0503020000020004" pitchFamily="50" charset="-127"/>
              </a:rPr>
              <a:t>생태계에서 하는 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E5EEC-A9AC-C89E-2C90-6FC81B037323}"/>
              </a:ext>
            </a:extLst>
          </p:cNvPr>
          <p:cNvSpPr txBox="1"/>
          <p:nvPr/>
        </p:nvSpPr>
        <p:spPr>
          <a:xfrm>
            <a:off x="660400" y="1066800"/>
            <a:ext cx="9906000" cy="29495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45F60"/>
                </a:solidFill>
                <a:latin typeface="맑은 고딕" panose="020B0503020000020004" pitchFamily="50" charset="-127"/>
              </a:rPr>
              <a:t>숲의 균형을 지키는 동물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BC8CE8-DEC8-EC3D-4F72-C507D74D1C6E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577E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2D22CC-41DA-CC46-2B3F-22AC16324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035" y="2692635"/>
            <a:ext cx="1244130" cy="12441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E5B973-EC8E-6AE7-39F6-A4411B2740A2}"/>
              </a:ext>
            </a:extLst>
          </p:cNvPr>
          <p:cNvSpPr txBox="1"/>
          <p:nvPr/>
        </p:nvSpPr>
        <p:spPr>
          <a:xfrm>
            <a:off x="1041400" y="2057400"/>
            <a:ext cx="5969000" cy="18338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900">
                <a:solidFill>
                  <a:srgbClr val="26302E"/>
                </a:solidFill>
                <a:latin typeface="맑은 고딕" panose="020B0503020000020004" pitchFamily="50" charset="-127"/>
              </a:rPr>
              <a:t>작은 포유류와 조류의 개체 수 조절에 도움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900">
                <a:solidFill>
                  <a:srgbClr val="26302E"/>
                </a:solidFill>
                <a:latin typeface="맑은 고딕" panose="020B0503020000020004" pitchFamily="50" charset="-127"/>
              </a:rPr>
              <a:t>죽은 동물 사체를 먹어 산림 위생 유지에 기여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900">
                <a:solidFill>
                  <a:srgbClr val="26302E"/>
                </a:solidFill>
                <a:latin typeface="맑은 고딕" panose="020B0503020000020004" pitchFamily="50" charset="-127"/>
              </a:rPr>
              <a:t>열매를 먹고 이동하면서 씨앗 확산에 일부 기여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900">
                <a:solidFill>
                  <a:srgbClr val="26302E"/>
                </a:solidFill>
                <a:latin typeface="맑은 고딕" panose="020B0503020000020004" pitchFamily="50" charset="-127"/>
              </a:rPr>
              <a:t>담비가 사는 숲은 먹이망과 서식 환경이 비교적 건강하다는 신호가 될 수 있음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D7F65-AD79-CC5D-6868-563B3A77F311}"/>
              </a:ext>
            </a:extLst>
          </p:cNvPr>
          <p:cNvSpPr txBox="1"/>
          <p:nvPr/>
        </p:nvSpPr>
        <p:spPr>
          <a:xfrm>
            <a:off x="1092200" y="5410200"/>
            <a:ext cx="96520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b="1">
                <a:solidFill>
                  <a:srgbClr val="94542C"/>
                </a:solidFill>
                <a:latin typeface="맑은 고딕" panose="020B0503020000020004" pitchFamily="50" charset="-127"/>
              </a:rPr>
              <a:t>보전 포인트</a:t>
            </a:r>
            <a:r>
              <a:rPr lang="en-US" altLang="ko-KR" b="1">
                <a:solidFill>
                  <a:srgbClr val="94542C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b="1">
                <a:solidFill>
                  <a:srgbClr val="94542C"/>
                </a:solidFill>
                <a:latin typeface="맑은 고딕" panose="020B0503020000020004" pitchFamily="50" charset="-127"/>
              </a:rPr>
              <a:t>숲이 끊기면 이동로가 줄고</a:t>
            </a:r>
            <a:r>
              <a:rPr lang="en-US" altLang="ko-KR" b="1">
                <a:solidFill>
                  <a:srgbClr val="94542C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b="1">
                <a:solidFill>
                  <a:srgbClr val="94542C"/>
                </a:solidFill>
                <a:latin typeface="맑은 고딕" panose="020B0503020000020004" pitchFamily="50" charset="-127"/>
              </a:rPr>
              <a:t>로드킬과 서식지 단절 위험이 커집니다</a:t>
            </a:r>
            <a:r>
              <a:rPr lang="en-US" altLang="ko-KR" b="1">
                <a:solidFill>
                  <a:srgbClr val="94542C"/>
                </a:solidFill>
                <a:latin typeface="맑은 고딕" panose="020B0503020000020004" pitchFamily="50" charset="-127"/>
              </a:rPr>
              <a:t>.</a:t>
            </a:r>
            <a:endParaRPr lang="ko-KR" altLang="en-US" b="1">
              <a:solidFill>
                <a:srgbClr val="94542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73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A0C3FB-51C3-89CD-DEDC-166C89769244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21B1C"/>
                </a:solidFill>
                <a:latin typeface="맑은 고딕" panose="020B0503020000020004" pitchFamily="50" charset="-127"/>
              </a:rPr>
              <a:t>관찰 영상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76F1C5-0C4F-D773-5665-9DC8DD8B8FBE}"/>
              </a:ext>
            </a:extLst>
          </p:cNvPr>
          <p:cNvSpPr txBox="1"/>
          <p:nvPr/>
        </p:nvSpPr>
        <p:spPr>
          <a:xfrm>
            <a:off x="660400" y="1066800"/>
            <a:ext cx="9906000" cy="29495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45F60"/>
                </a:solidFill>
                <a:latin typeface="맑은 고딕" panose="020B0503020000020004" pitchFamily="50" charset="-127"/>
              </a:rPr>
              <a:t>삽입 </a:t>
            </a:r>
            <a:r>
              <a:rPr lang="en-US" altLang="ko-KR" sz="1250">
                <a:solidFill>
                  <a:srgbClr val="545F60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1250">
                <a:solidFill>
                  <a:srgbClr val="545F60"/>
                </a:solidFill>
                <a:latin typeface="맑은 고딕" panose="020B0503020000020004" pitchFamily="50" charset="-127"/>
              </a:rPr>
              <a:t>비디오 </a:t>
            </a:r>
            <a:r>
              <a:rPr lang="en-US" altLang="ko-KR" sz="1250">
                <a:solidFill>
                  <a:srgbClr val="545F60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1250">
                <a:solidFill>
                  <a:srgbClr val="545F60"/>
                </a:solidFill>
                <a:latin typeface="맑은 고딕" panose="020B0503020000020004" pitchFamily="50" charset="-127"/>
              </a:rPr>
              <a:t>온라인 비디오에 넣을 유튜브 링크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D955E7-9003-6BCF-1E60-53AC5200B6E6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577E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E5CA2AF-2EBD-EADE-9874-1E23AA350F2A}"/>
              </a:ext>
            </a:extLst>
          </p:cNvPr>
          <p:cNvSpPr/>
          <p:nvPr/>
        </p:nvSpPr>
        <p:spPr>
          <a:xfrm>
            <a:off x="1041400" y="1955800"/>
            <a:ext cx="6604000" cy="3708400"/>
          </a:xfrm>
          <a:prstGeom prst="roundRect">
            <a:avLst>
              <a:gd name="adj" fmla="val 8000"/>
            </a:avLst>
          </a:prstGeom>
          <a:solidFill>
            <a:srgbClr val="222826"/>
          </a:solidFill>
          <a:ln>
            <a:solidFill>
              <a:srgbClr val="2228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5A71AC9-50B0-1B02-E5E7-02B4EBFBEE79}"/>
              </a:ext>
            </a:extLst>
          </p:cNvPr>
          <p:cNvSpPr/>
          <p:nvPr/>
        </p:nvSpPr>
        <p:spPr>
          <a:xfrm>
            <a:off x="3708400" y="3098800"/>
            <a:ext cx="1270000" cy="1270000"/>
          </a:xfrm>
          <a:prstGeom prst="ellipse">
            <a:avLst/>
          </a:prstGeom>
          <a:solidFill>
            <a:srgbClr val="CD41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9C42D-9020-6A30-609E-0754530EAA90}"/>
              </a:ext>
            </a:extLst>
          </p:cNvPr>
          <p:cNvSpPr txBox="1"/>
          <p:nvPr/>
        </p:nvSpPr>
        <p:spPr>
          <a:xfrm>
            <a:off x="4076700" y="3352800"/>
            <a:ext cx="558800" cy="62581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ko-KR" altLang="en-US" sz="3400" b="1">
                <a:solidFill>
                  <a:srgbClr val="FFFFFF"/>
                </a:solidFill>
                <a:latin typeface="맑은 고딕" panose="020B0503020000020004" pitchFamily="50" charset="-127"/>
              </a:rPr>
              <a:t>▶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39229-3B75-D667-737B-9A4543DFD4F5}"/>
              </a:ext>
            </a:extLst>
          </p:cNvPr>
          <p:cNvSpPr txBox="1"/>
          <p:nvPr/>
        </p:nvSpPr>
        <p:spPr>
          <a:xfrm>
            <a:off x="2387600" y="4572000"/>
            <a:ext cx="3937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FFFFFF"/>
                </a:solidFill>
                <a:latin typeface="맑은 고딕" panose="020B0503020000020004" pitchFamily="50" charset="-127"/>
              </a:rPr>
              <a:t>YouTube </a:t>
            </a:r>
            <a:r>
              <a:rPr lang="ko-KR" altLang="en-US" sz="2100" b="1">
                <a:solidFill>
                  <a:srgbClr val="FFFFFF"/>
                </a:solidFill>
                <a:latin typeface="맑은 고딕" panose="020B0503020000020004" pitchFamily="50" charset="-127"/>
              </a:rPr>
              <a:t>담비 영상</a:t>
            </a:r>
          </a:p>
        </p:txBody>
      </p:sp>
      <p:sp>
        <p:nvSpPr>
          <p:cNvPr id="9" name="사각형: 둥근 모서리 8">
            <a:hlinkClick r:id="rId2"/>
            <a:extLst>
              <a:ext uri="{FF2B5EF4-FFF2-40B4-BE49-F238E27FC236}">
                <a16:creationId xmlns:a16="http://schemas.microsoft.com/office/drawing/2014/main" id="{DC97F0A2-14B0-8061-D5ED-813FF0843092}"/>
              </a:ext>
            </a:extLst>
          </p:cNvPr>
          <p:cNvSpPr/>
          <p:nvPr/>
        </p:nvSpPr>
        <p:spPr>
          <a:xfrm>
            <a:off x="8280400" y="2413000"/>
            <a:ext cx="2286000" cy="558800"/>
          </a:xfrm>
          <a:prstGeom prst="roundRect">
            <a:avLst>
              <a:gd name="adj" fmla="val 16000"/>
            </a:avLst>
          </a:prstGeom>
          <a:solidFill>
            <a:srgbClr val="CD41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유튜브 영상 열기</a:t>
            </a:r>
          </a:p>
        </p:txBody>
      </p:sp>
      <p:sp>
        <p:nvSpPr>
          <p:cNvPr id="10" name="사각형: 둥근 모서리 9">
            <a:hlinkClick r:id="rId3"/>
            <a:extLst>
              <a:ext uri="{FF2B5EF4-FFF2-40B4-BE49-F238E27FC236}">
                <a16:creationId xmlns:a16="http://schemas.microsoft.com/office/drawing/2014/main" id="{800918D7-D89D-CD72-E15F-7E681C826A77}"/>
              </a:ext>
            </a:extLst>
          </p:cNvPr>
          <p:cNvSpPr/>
          <p:nvPr/>
        </p:nvSpPr>
        <p:spPr>
          <a:xfrm>
            <a:off x="8280400" y="3149600"/>
            <a:ext cx="2286000" cy="558800"/>
          </a:xfrm>
          <a:prstGeom prst="roundRect">
            <a:avLst>
              <a:gd name="adj" fmla="val 16000"/>
            </a:avLst>
          </a:prstGeom>
          <a:solidFill>
            <a:srgbClr val="577E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검색 결과로 보기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01FF4-CF78-EECB-D4F4-21447F32AC21}"/>
              </a:ext>
            </a:extLst>
          </p:cNvPr>
          <p:cNvSpPr txBox="1"/>
          <p:nvPr/>
        </p:nvSpPr>
        <p:spPr>
          <a:xfrm>
            <a:off x="8128000" y="4140200"/>
            <a:ext cx="2984500" cy="102592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ko-KR" sz="1500">
                <a:solidFill>
                  <a:srgbClr val="3C4644"/>
                </a:solidFill>
                <a:latin typeface="맑은 고딕" panose="020B0503020000020004" pitchFamily="50" charset="-127"/>
              </a:rPr>
              <a:t>PowerPoint</a:t>
            </a:r>
            <a:r>
              <a:rPr lang="ko-KR" altLang="en-US" sz="1500">
                <a:solidFill>
                  <a:srgbClr val="3C4644"/>
                </a:solidFill>
                <a:latin typeface="맑은 고딕" panose="020B0503020000020004" pitchFamily="50" charset="-127"/>
              </a:rPr>
              <a:t>에서 직접 삽입하려면</a:t>
            </a:r>
            <a:r>
              <a:rPr lang="en-US" altLang="ko-KR" sz="1500">
                <a:solidFill>
                  <a:srgbClr val="3C4644"/>
                </a:solidFill>
                <a:latin typeface="맑은 고딕" panose="020B0503020000020004" pitchFamily="50" charset="-127"/>
              </a:rPr>
              <a:t>:</a:t>
            </a:r>
          </a:p>
          <a:p>
            <a:r>
              <a:rPr lang="ko-KR" altLang="en-US" sz="1500">
                <a:solidFill>
                  <a:srgbClr val="3C4644"/>
                </a:solidFill>
                <a:latin typeface="맑은 고딕" panose="020B0503020000020004" pitchFamily="50" charset="-127"/>
              </a:rPr>
              <a:t>삽입 </a:t>
            </a:r>
            <a:r>
              <a:rPr lang="en-US" altLang="ko-KR" sz="1500">
                <a:solidFill>
                  <a:srgbClr val="3C4644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1500">
                <a:solidFill>
                  <a:srgbClr val="3C4644"/>
                </a:solidFill>
                <a:latin typeface="맑은 고딕" panose="020B0503020000020004" pitchFamily="50" charset="-127"/>
              </a:rPr>
              <a:t>비디오 </a:t>
            </a:r>
            <a:r>
              <a:rPr lang="en-US" altLang="ko-KR" sz="1500">
                <a:solidFill>
                  <a:srgbClr val="3C4644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1500">
                <a:solidFill>
                  <a:srgbClr val="3C4644"/>
                </a:solidFill>
                <a:latin typeface="맑은 고딕" panose="020B0503020000020004" pitchFamily="50" charset="-127"/>
              </a:rPr>
              <a:t>온라인 비디오 </a:t>
            </a:r>
            <a:r>
              <a:rPr lang="en-US" altLang="ko-KR" sz="1500">
                <a:solidFill>
                  <a:srgbClr val="3C4644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1500">
                <a:solidFill>
                  <a:srgbClr val="3C4644"/>
                </a:solidFill>
                <a:latin typeface="맑은 고딕" panose="020B0503020000020004" pitchFamily="50" charset="-127"/>
              </a:rPr>
              <a:t>유튜브 주소 붙여넣기</a:t>
            </a:r>
          </a:p>
        </p:txBody>
      </p:sp>
    </p:spTree>
    <p:extLst>
      <p:ext uri="{BB962C8B-B14F-4D97-AF65-F5344CB8AC3E}">
        <p14:creationId xmlns:p14="http://schemas.microsoft.com/office/powerpoint/2010/main" val="341067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A12C7E-C888-3B13-4EE8-6F10CD37F77C}"/>
              </a:ext>
            </a:extLst>
          </p:cNvPr>
          <p:cNvSpPr txBox="1"/>
          <p:nvPr/>
        </p:nvSpPr>
        <p:spPr>
          <a:xfrm>
            <a:off x="609600" y="406400"/>
            <a:ext cx="10414000" cy="5488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900" b="1">
                <a:solidFill>
                  <a:srgbClr val="121B1C"/>
                </a:solidFill>
                <a:latin typeface="맑은 고딕" panose="020B0503020000020004" pitchFamily="50" charset="-127"/>
              </a:rPr>
              <a:t>정리와 출처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C897-D4D0-73A5-D2E4-553FF10E6022}"/>
              </a:ext>
            </a:extLst>
          </p:cNvPr>
          <p:cNvSpPr txBox="1"/>
          <p:nvPr/>
        </p:nvSpPr>
        <p:spPr>
          <a:xfrm>
            <a:off x="660400" y="1066800"/>
            <a:ext cx="9906000" cy="29495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250">
                <a:solidFill>
                  <a:srgbClr val="545F60"/>
                </a:solidFill>
                <a:latin typeface="맑은 고딕" panose="020B0503020000020004" pitchFamily="50" charset="-127"/>
              </a:rPr>
              <a:t>백과사전 발표 마무리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818DC0-4AB2-B707-A0F3-022C4E6DEA50}"/>
              </a:ext>
            </a:extLst>
          </p:cNvPr>
          <p:cNvSpPr/>
          <p:nvPr/>
        </p:nvSpPr>
        <p:spPr>
          <a:xfrm>
            <a:off x="660400" y="1549400"/>
            <a:ext cx="1117600" cy="50800"/>
          </a:xfrm>
          <a:prstGeom prst="rect">
            <a:avLst/>
          </a:prstGeom>
          <a:solidFill>
            <a:srgbClr val="577E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41B1C-52CF-7B8B-98C7-16171C496468}"/>
              </a:ext>
            </a:extLst>
          </p:cNvPr>
          <p:cNvSpPr txBox="1"/>
          <p:nvPr/>
        </p:nvSpPr>
        <p:spPr>
          <a:xfrm>
            <a:off x="990600" y="1981200"/>
            <a:ext cx="3302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121B1C"/>
                </a:solidFill>
                <a:latin typeface="맑은 고딕" panose="020B0503020000020004" pitchFamily="50" charset="-127"/>
              </a:rPr>
              <a:t>핵심 정리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E1A74-B87E-DE54-2A13-727573ADEC7A}"/>
              </a:ext>
            </a:extLst>
          </p:cNvPr>
          <p:cNvSpPr txBox="1"/>
          <p:nvPr/>
        </p:nvSpPr>
        <p:spPr>
          <a:xfrm>
            <a:off x="990600" y="2540000"/>
            <a:ext cx="5461000" cy="13285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 dirty="0">
                <a:solidFill>
                  <a:srgbClr val="26302E"/>
                </a:solidFill>
                <a:latin typeface="맑은 고딕" panose="020B0503020000020004" pitchFamily="50" charset="-127"/>
              </a:rPr>
              <a:t>담비는 노란 목과 긴 꼬리가 특징인 족제비과 동물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 dirty="0">
                <a:solidFill>
                  <a:srgbClr val="26302E"/>
                </a:solidFill>
                <a:latin typeface="맑은 고딕" panose="020B0503020000020004" pitchFamily="50" charset="-127"/>
              </a:rPr>
              <a:t>산림에서 작은 동물을 사냥하고 사체를 처리하는 역할을 함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ko-KR" altLang="en-US" sz="1700" dirty="0">
                <a:solidFill>
                  <a:srgbClr val="26302E"/>
                </a:solidFill>
                <a:latin typeface="맑은 고딕" panose="020B0503020000020004" pitchFamily="50" charset="-127"/>
              </a:rPr>
              <a:t>서식지 연결성과 산림 보전이 담비 보호에 중요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4992C-404C-464C-AE43-14800E9A1BCA}"/>
              </a:ext>
            </a:extLst>
          </p:cNvPr>
          <p:cNvSpPr txBox="1"/>
          <p:nvPr/>
        </p:nvSpPr>
        <p:spPr>
          <a:xfrm>
            <a:off x="7442200" y="1981200"/>
            <a:ext cx="3302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2200" b="1">
                <a:solidFill>
                  <a:srgbClr val="121B1C"/>
                </a:solidFill>
                <a:latin typeface="맑은 고딕" panose="020B0503020000020004" pitchFamily="50" charset="-127"/>
              </a:rPr>
              <a:t>자료 링크</a:t>
            </a:r>
          </a:p>
        </p:txBody>
      </p:sp>
      <p:sp>
        <p:nvSpPr>
          <p:cNvPr id="8" name="사각형: 둥근 모서리 7">
            <a:hlinkClick r:id="rId2"/>
            <a:extLst>
              <a:ext uri="{FF2B5EF4-FFF2-40B4-BE49-F238E27FC236}">
                <a16:creationId xmlns:a16="http://schemas.microsoft.com/office/drawing/2014/main" id="{AE7F18E9-8940-7DFF-396D-108AEB087FA7}"/>
              </a:ext>
            </a:extLst>
          </p:cNvPr>
          <p:cNvSpPr/>
          <p:nvPr/>
        </p:nvSpPr>
        <p:spPr>
          <a:xfrm>
            <a:off x="7442200" y="2590800"/>
            <a:ext cx="2667000" cy="508000"/>
          </a:xfrm>
          <a:prstGeom prst="roundRect">
            <a:avLst>
              <a:gd name="adj" fmla="val 16000"/>
            </a:avLst>
          </a:prstGeom>
          <a:solidFill>
            <a:srgbClr val="577E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한국민족문화대백과</a:t>
            </a:r>
          </a:p>
        </p:txBody>
      </p:sp>
      <p:sp>
        <p:nvSpPr>
          <p:cNvPr id="9" name="사각형: 둥근 모서리 8">
            <a:hlinkClick r:id="rId3"/>
            <a:extLst>
              <a:ext uri="{FF2B5EF4-FFF2-40B4-BE49-F238E27FC236}">
                <a16:creationId xmlns:a16="http://schemas.microsoft.com/office/drawing/2014/main" id="{2405B0D8-B71D-844B-01D9-4BCA476D12A8}"/>
              </a:ext>
            </a:extLst>
          </p:cNvPr>
          <p:cNvSpPr/>
          <p:nvPr/>
        </p:nvSpPr>
        <p:spPr>
          <a:xfrm>
            <a:off x="7442200" y="3251200"/>
            <a:ext cx="2667000" cy="508000"/>
          </a:xfrm>
          <a:prstGeom prst="roundRect">
            <a:avLst>
              <a:gd name="adj" fmla="val 16000"/>
            </a:avLst>
          </a:prstGeom>
          <a:solidFill>
            <a:srgbClr val="2B5C4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환경부 자료</a:t>
            </a:r>
          </a:p>
        </p:txBody>
      </p:sp>
      <p:sp>
        <p:nvSpPr>
          <p:cNvPr id="10" name="사각형: 둥근 모서리 9">
            <a:hlinkClick r:id="rId4"/>
            <a:extLst>
              <a:ext uri="{FF2B5EF4-FFF2-40B4-BE49-F238E27FC236}">
                <a16:creationId xmlns:a16="http://schemas.microsoft.com/office/drawing/2014/main" id="{FC3D8C72-175D-A606-2FDE-03C3ABBD191A}"/>
              </a:ext>
            </a:extLst>
          </p:cNvPr>
          <p:cNvSpPr/>
          <p:nvPr/>
        </p:nvSpPr>
        <p:spPr>
          <a:xfrm>
            <a:off x="7442200" y="3911600"/>
            <a:ext cx="2667000" cy="508000"/>
          </a:xfrm>
          <a:prstGeom prst="roundRect">
            <a:avLst>
              <a:gd name="adj" fmla="val 16000"/>
            </a:avLst>
          </a:prstGeom>
          <a:solidFill>
            <a:srgbClr val="5B60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담비 기본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259D6-DC99-A066-8855-AA9C3E7F973E}"/>
              </a:ext>
            </a:extLst>
          </p:cNvPr>
          <p:cNvSpPr txBox="1"/>
          <p:nvPr/>
        </p:nvSpPr>
        <p:spPr>
          <a:xfrm>
            <a:off x="1041400" y="5562600"/>
            <a:ext cx="9652000" cy="5027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ko-KR" altLang="en-US" sz="1300">
                <a:solidFill>
                  <a:srgbClr val="67726F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1300">
                <a:solidFill>
                  <a:srgbClr val="67726F"/>
                </a:solidFill>
                <a:latin typeface="맑은 고딕" panose="020B0503020000020004" pitchFamily="50" charset="-127"/>
              </a:rPr>
              <a:t>: PowerPoint </a:t>
            </a:r>
            <a:r>
              <a:rPr lang="ko-KR" altLang="en-US" sz="1300">
                <a:solidFill>
                  <a:srgbClr val="67726F"/>
                </a:solidFill>
                <a:latin typeface="맑은 고딕" panose="020B0503020000020004" pitchFamily="50" charset="-127"/>
              </a:rPr>
              <a:t>스톡 사진 느낌으로 생성한 교육용 이미지</a:t>
            </a:r>
          </a:p>
          <a:p>
            <a:r>
              <a:rPr lang="ko-KR" altLang="en-US" sz="1300">
                <a:solidFill>
                  <a:srgbClr val="67726F"/>
                </a:solidFill>
                <a:latin typeface="맑은 고딕" panose="020B0503020000020004" pitchFamily="50" charset="-127"/>
              </a:rPr>
              <a:t>영상</a:t>
            </a:r>
            <a:r>
              <a:rPr lang="en-US" altLang="ko-KR" sz="1300">
                <a:solidFill>
                  <a:srgbClr val="67726F"/>
                </a:solidFill>
                <a:latin typeface="맑은 고딕" panose="020B0503020000020004" pitchFamily="50" charset="-127"/>
              </a:rPr>
              <a:t>: YouTube </a:t>
            </a:r>
            <a:r>
              <a:rPr lang="ko-KR" altLang="en-US" sz="1300">
                <a:solidFill>
                  <a:srgbClr val="67726F"/>
                </a:solidFill>
                <a:latin typeface="맑은 고딕" panose="020B0503020000020004" pitchFamily="50" charset="-127"/>
              </a:rPr>
              <a:t>링크 사용</a:t>
            </a:r>
          </a:p>
        </p:txBody>
      </p:sp>
    </p:spTree>
    <p:extLst>
      <p:ext uri="{BB962C8B-B14F-4D97-AF65-F5344CB8AC3E}">
        <p14:creationId xmlns:p14="http://schemas.microsoft.com/office/powerpoint/2010/main" val="300830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299</Words>
  <Application>Microsoft Office PowerPoint</Application>
  <PresentationFormat>와이드스크린</PresentationFormat>
  <Paragraphs>61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 park</dc:creator>
  <cp:lastModifiedBy>jong park</cp:lastModifiedBy>
  <cp:revision>2</cp:revision>
  <dcterms:created xsi:type="dcterms:W3CDTF">2026-06-16T04:25:48Z</dcterms:created>
  <dcterms:modified xsi:type="dcterms:W3CDTF">2026-06-16T04:39:21Z</dcterms:modified>
</cp:coreProperties>
</file>