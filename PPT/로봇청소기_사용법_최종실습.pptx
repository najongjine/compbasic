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889A6-85FE-3E22-B6CA-64BA5FD0A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E39305-6F02-CB4C-7E87-1B5768BEF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BA6974-5E3C-6E42-3169-62E9DD5C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93B362-760E-1C68-CE49-46580252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BC8F96-93F3-BC8B-444C-0E8AE888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48BD0-AFCC-6879-31F7-71BC25FF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9EA27-7823-3F30-3651-07C5C27EE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C1ABF6-131F-A047-76A3-C5CBBCE4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1B538-BE04-D5A5-0421-CB56411F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27562-5C3D-AA8B-83E0-45ABD7C2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22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5D9AF-5289-4298-B2B9-19824E96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2F7C9-8A1F-5269-A292-5850A4BBB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2EB26B-BC03-4060-12F2-D3D6C4C5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97308B-62D5-6A61-8FD9-B07A6716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488A56-450B-5E17-5DCF-4F31AD47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7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A743F-DA7E-0FBD-7166-19483591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EC466A-7274-212A-AFC5-0365B7BE7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377B2A-AD9C-7AD9-6D57-67FC81FC3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4FF802-653B-72C4-6A61-1E790445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FF742F-F557-5428-4076-7B6D3F43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759088-4DBF-BA79-15CD-A26D3204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61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1F6BC-FAFC-6B57-7585-495D5238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A58965-60DE-FDB3-E12B-0A72A1359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CA3CC2-BBD9-913D-17CB-A345DA719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06D5A3-5F26-2F10-25BC-76114AFE1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D65585-7EE5-5856-0773-DC4A81898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1B102F-645B-967B-5A64-0F146604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3B7CEF-B1D4-9C5D-94AD-7E6A5189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141A66-C54E-1E0F-C4BC-B65743AA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802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16FA3-AD33-50D8-B2B5-B04E70A0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AE4B45-0DCE-AE21-AC6B-D1278A4C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D3B4DE-89DA-1022-854D-8D876C28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B82414-C243-CD1B-795A-B4483DC5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022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41756E-42FF-E56C-D7BB-C36E91BE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76669D-0EC3-1228-504E-2595CB07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2128D-B206-C152-29FC-E90FA7C5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41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27DC1-4AFB-74B4-4D36-5B489FED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51FFE-62D6-6F3B-6B1D-33B4442FC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1F4700-CDC3-ACB4-7AB2-B7CDF5A5D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E6A13A-B7BE-0561-B633-9172F05F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E11337-48EF-BC04-4CE5-EDFF16A76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A8016F-0636-78F1-A2E9-D9C80524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61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00F7F-9D55-A1B1-CCC3-1FB8A9F5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60FFBC-ECB6-2F5A-6CF5-FD1638F26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38BE8E-D290-EFD2-D71D-96A440661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C6314B-9D22-5D30-11DE-B8C42BF8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4E70FC-CC3B-F284-7AD0-22E965E6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64E457-C9EA-FA0E-F3E2-E1888085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12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954C1-8956-8148-0936-5963FB3B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0CC2D-4D10-6650-8BE5-241BF002A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CD415-3E02-4254-F735-66691671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610AA7-3897-7BD2-990E-42581487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D85BB-0E2F-C08F-1602-7B040574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30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DE7E30-AE6E-0E10-D0D7-A4094D565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270230-64B3-589F-6F34-E06BB5EF2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0A9ACA-463D-7A90-E323-9D5C923C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7FDAD-B69D-ADE0-F09F-B0FC2C46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AA689-6660-898B-8450-5DC4DC20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12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A6D4A9-049B-9C69-AEFA-C0ABF6BDE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754556-050D-EEF4-A720-410D9F71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06D77F-0C4C-EDC3-E0F4-6BB1A55CC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F5C24-2E6B-4B0A-9520-5A7F782FBDD5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4F3438-029A-5A17-02C9-F3661E8DB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9537C-A7B1-820E-A658-81A873C7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E9F09-77FD-4B6A-A690-1A4604793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3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0wtwbwLYSvs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d.danawa.com/info/?pcode=58836050" TargetMode="External"/><Relationship Id="rId2" Type="http://schemas.openxmlformats.org/officeDocument/2006/relationships/hyperlink" Target="https://www.mi.com/kr/product/xiaomi-robot-vacuum-x20-plus/buy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0wtwbwLYSvs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.com/kr/product/xiaomi-robot-vacuum-x20-plus/buy/" TargetMode="External"/><Relationship Id="rId2" Type="http://schemas.openxmlformats.org/officeDocument/2006/relationships/hyperlink" Target="https://www.mi.com/kr/product/xiaomi-robot-vacuum-x20-plus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rod.danawa.com/info/?pcode=58836050" TargetMode="External"/><Relationship Id="rId4" Type="http://schemas.openxmlformats.org/officeDocument/2006/relationships/hyperlink" Target="https://www.mi.com/kr/support/faq/details/KA-12583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31E5D4-9F06-02B2-C131-1931A9774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216" y="1395119"/>
            <a:ext cx="2878769" cy="37629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966E79-F8B0-ADBF-9826-CB1C0866BF73}"/>
              </a:ext>
            </a:extLst>
          </p:cNvPr>
          <p:cNvSpPr txBox="1"/>
          <p:nvPr/>
        </p:nvSpPr>
        <p:spPr>
          <a:xfrm>
            <a:off x="711200" y="1219200"/>
            <a:ext cx="5461000" cy="127214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3800" b="1">
                <a:solidFill>
                  <a:srgbClr val="12181F"/>
                </a:solidFill>
                <a:latin typeface="맑은 고딕" panose="020B0503020000020004" pitchFamily="50" charset="-127"/>
              </a:rPr>
              <a:t>로봇 청소기</a:t>
            </a:r>
          </a:p>
          <a:p>
            <a:r>
              <a:rPr lang="ko-KR" altLang="en-US" sz="3800" b="1">
                <a:solidFill>
                  <a:srgbClr val="12181F"/>
                </a:solidFill>
                <a:latin typeface="맑은 고딕" panose="020B0503020000020004" pitchFamily="50" charset="-127"/>
              </a:rPr>
              <a:t>사용법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154DC-BBBE-D06A-7820-B1386C15E92D}"/>
              </a:ext>
            </a:extLst>
          </p:cNvPr>
          <p:cNvSpPr txBox="1"/>
          <p:nvPr/>
        </p:nvSpPr>
        <p:spPr>
          <a:xfrm>
            <a:off x="762000" y="2921000"/>
            <a:ext cx="5588000" cy="16722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가성비 모델 예시</a:t>
            </a:r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: Xiaomi </a:t>
            </a:r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로봇청소기 </a:t>
            </a:r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X20+</a:t>
            </a:r>
          </a:p>
          <a:p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구매 링크</a:t>
            </a:r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제품 사진</a:t>
            </a:r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시연 영상</a:t>
            </a:r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장단점</a:t>
            </a:r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사용 순서 포함</a:t>
            </a:r>
            <a:endParaRPr lang="en-US" altLang="ko-KR" sz="1700" dirty="0">
              <a:solidFill>
                <a:srgbClr val="46505C"/>
              </a:solidFill>
              <a:latin typeface="맑은 고딕" panose="020B0503020000020004" pitchFamily="50" charset="-127"/>
            </a:endParaRPr>
          </a:p>
          <a:p>
            <a:endParaRPr lang="en-US" altLang="ko-KR" sz="1700" dirty="0">
              <a:solidFill>
                <a:srgbClr val="46505C"/>
              </a:solidFill>
              <a:latin typeface="맑은 고딕" panose="020B0503020000020004" pitchFamily="50" charset="-127"/>
            </a:endParaRPr>
          </a:p>
          <a:p>
            <a:r>
              <a:rPr lang="en-US" altLang="ko-KR" sz="1700" dirty="0">
                <a:solidFill>
                  <a:srgbClr val="46505C"/>
                </a:solidFill>
                <a:latin typeface="맑은 고딕" panose="020B0503020000020004" pitchFamily="50" charset="-127"/>
              </a:rPr>
              <a:t>https://www.mi.com/kr/product/xiaomi-robot-vacuum-x20-plus/buy/</a:t>
            </a:r>
            <a:endParaRPr lang="ko-KR" altLang="en-US" sz="1700" dirty="0">
              <a:solidFill>
                <a:srgbClr val="46505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DC5F8-7A6A-907D-47EE-00BCEEC2160E}"/>
              </a:ext>
            </a:extLst>
          </p:cNvPr>
          <p:cNvSpPr txBox="1"/>
          <p:nvPr/>
        </p:nvSpPr>
        <p:spPr>
          <a:xfrm>
            <a:off x="812800" y="5867400"/>
            <a:ext cx="3048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717C89"/>
                </a:solidFill>
                <a:latin typeface="맑은 고딕" panose="020B0503020000020004" pitchFamily="50" charset="-127"/>
              </a:rPr>
              <a:t>최종실습 </a:t>
            </a:r>
            <a:r>
              <a:rPr lang="en-US" altLang="ko-KR" sz="1300">
                <a:solidFill>
                  <a:srgbClr val="717C89"/>
                </a:solidFill>
                <a:latin typeface="맑은 고딕" panose="020B0503020000020004" pitchFamily="50" charset="-127"/>
              </a:rPr>
              <a:t>PPT</a:t>
            </a:r>
            <a:endParaRPr lang="ko-KR" altLang="en-US" sz="1300">
              <a:solidFill>
                <a:srgbClr val="717C8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1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B20A7-C9A2-DC45-83C5-6AD71F293C53}"/>
              </a:ext>
            </a:extLst>
          </p:cNvPr>
          <p:cNvSpPr txBox="1"/>
          <p:nvPr/>
        </p:nvSpPr>
        <p:spPr>
          <a:xfrm>
            <a:off x="1294646" y="633742"/>
            <a:ext cx="965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시연 영상</a:t>
            </a:r>
          </a:p>
        </p:txBody>
      </p:sp>
      <p:pic>
        <p:nvPicPr>
          <p:cNvPr id="3" name="온라인 미디어 2" title="샤오미 로봇청소기 X20+ 사용기👉40만원대에 진공, 물걸레, 건조까지?">
            <a:hlinkClick r:id="" action="ppaction://media"/>
            <a:extLst>
              <a:ext uri="{FF2B5EF4-FFF2-40B4-BE49-F238E27FC236}">
                <a16:creationId xmlns:a16="http://schemas.microsoft.com/office/drawing/2014/main" id="{28066629-682B-0794-3D4D-C22BD95A047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85727" y="1428183"/>
            <a:ext cx="8220546" cy="46446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773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B75E14-0EF3-3011-310D-2453266A51E0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제품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62A9E-AE3B-13DF-2C25-EB776B1E596F}"/>
              </a:ext>
            </a:extLst>
          </p:cNvPr>
          <p:cNvSpPr txBox="1"/>
          <p:nvPr/>
        </p:nvSpPr>
        <p:spPr>
          <a:xfrm>
            <a:off x="660400" y="106680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200">
                <a:solidFill>
                  <a:srgbClr val="525B69"/>
                </a:solidFill>
                <a:latin typeface="맑은 고딕" panose="020B0503020000020004" pitchFamily="50" charset="-127"/>
              </a:rPr>
              <a:t>Xiaomi </a:t>
            </a:r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로봇청소기 </a:t>
            </a:r>
            <a:r>
              <a:rPr lang="en-US" altLang="ko-KR" sz="1200">
                <a:solidFill>
                  <a:srgbClr val="525B69"/>
                </a:solidFill>
                <a:latin typeface="맑은 고딕" panose="020B0503020000020004" pitchFamily="50" charset="-127"/>
              </a:rPr>
              <a:t>X20+</a:t>
            </a:r>
            <a:endParaRPr lang="ko-KR" altLang="en-US" sz="1200">
              <a:solidFill>
                <a:srgbClr val="525B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926CB1-B804-FEF3-5383-7DB17894F0A3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989556-3CB4-7894-8633-CC5515500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991" y="2284600"/>
            <a:ext cx="2911417" cy="30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EDFE30-1548-FDCF-268B-545BB5CE92B2}"/>
              </a:ext>
            </a:extLst>
          </p:cNvPr>
          <p:cNvSpPr txBox="1"/>
          <p:nvPr/>
        </p:nvSpPr>
        <p:spPr>
          <a:xfrm>
            <a:off x="965200" y="2108200"/>
            <a:ext cx="4953000" cy="231088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dirty="0">
                <a:solidFill>
                  <a:srgbClr val="252D37"/>
                </a:solidFill>
                <a:latin typeface="맑은 고딕" panose="020B0503020000020004" pitchFamily="50" charset="-127"/>
              </a:rPr>
              <a:t>흡입 청소와 회전 물걸레 청소를 함께 지원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dirty="0" err="1">
                <a:solidFill>
                  <a:srgbClr val="252D37"/>
                </a:solidFill>
                <a:latin typeface="맑은 고딕" panose="020B0503020000020004" pitchFamily="50" charset="-127"/>
              </a:rPr>
              <a:t>올인원</a:t>
            </a:r>
            <a:r>
              <a:rPr lang="ko-KR" altLang="en-US" dirty="0">
                <a:solidFill>
                  <a:srgbClr val="252D37"/>
                </a:solidFill>
                <a:latin typeface="맑은 고딕" panose="020B0503020000020004" pitchFamily="50" charset="-127"/>
              </a:rPr>
              <a:t> 베이스 스테이션으로 먼지 비움과 물걸레 세척을 자동화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altLang="ko-KR" dirty="0">
                <a:solidFill>
                  <a:srgbClr val="252D37"/>
                </a:solidFill>
                <a:latin typeface="맑은 고딕" panose="020B0503020000020004" pitchFamily="50" charset="-127"/>
              </a:rPr>
              <a:t>LDS </a:t>
            </a:r>
            <a:r>
              <a:rPr lang="ko-KR" altLang="en-US" dirty="0">
                <a:solidFill>
                  <a:srgbClr val="252D37"/>
                </a:solidFill>
                <a:latin typeface="맑은 고딕" panose="020B0503020000020004" pitchFamily="50" charset="-127"/>
              </a:rPr>
              <a:t>레이저 내비게이션으로 집 구조를 스캔하고 경로를 계획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altLang="ko-KR" dirty="0">
                <a:solidFill>
                  <a:srgbClr val="252D37"/>
                </a:solidFill>
                <a:latin typeface="맑은 고딕" panose="020B0503020000020004" pitchFamily="50" charset="-127"/>
              </a:rPr>
              <a:t>Xiaomi Home </a:t>
            </a:r>
            <a:r>
              <a:rPr lang="ko-KR" altLang="en-US" dirty="0">
                <a:solidFill>
                  <a:srgbClr val="252D37"/>
                </a:solidFill>
                <a:latin typeface="맑은 고딕" panose="020B0503020000020004" pitchFamily="50" charset="-127"/>
              </a:rPr>
              <a:t>앱으로 구역 청소</a:t>
            </a:r>
            <a:r>
              <a:rPr lang="en-US" altLang="ko-KR" dirty="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252D37"/>
                </a:solidFill>
                <a:latin typeface="맑은 고딕" panose="020B0503020000020004" pitchFamily="50" charset="-127"/>
              </a:rPr>
              <a:t>예약 청소</a:t>
            </a:r>
            <a:r>
              <a:rPr lang="en-US" altLang="ko-KR" dirty="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252D37"/>
                </a:solidFill>
                <a:latin typeface="맑은 고딕" panose="020B0503020000020004" pitchFamily="50" charset="-127"/>
              </a:rPr>
              <a:t>금지 구역 설정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49AC-E262-9395-EE9C-887B9BF9ED54}"/>
              </a:ext>
            </a:extLst>
          </p:cNvPr>
          <p:cNvSpPr txBox="1"/>
          <p:nvPr/>
        </p:nvSpPr>
        <p:spPr>
          <a:xfrm>
            <a:off x="990600" y="5461000"/>
            <a:ext cx="96520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E8479"/>
                </a:solidFill>
                <a:latin typeface="맑은 고딕" panose="020B0503020000020004" pitchFamily="50" charset="-127"/>
              </a:rPr>
              <a:t>핵심 컨셉</a:t>
            </a:r>
            <a:r>
              <a:rPr lang="en-US" altLang="ko-KR" sz="1700" b="1">
                <a:solidFill>
                  <a:srgbClr val="1E8479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700" b="1">
                <a:solidFill>
                  <a:srgbClr val="1E8479"/>
                </a:solidFill>
                <a:latin typeface="맑은 고딕" panose="020B0503020000020004" pitchFamily="50" charset="-127"/>
              </a:rPr>
              <a:t>바닥 정리만 잘해두면 매일 반복되는 청소를 자동화해 주는 생활가전</a:t>
            </a:r>
          </a:p>
        </p:txBody>
      </p:sp>
    </p:spTree>
    <p:extLst>
      <p:ext uri="{BB962C8B-B14F-4D97-AF65-F5344CB8AC3E}">
        <p14:creationId xmlns:p14="http://schemas.microsoft.com/office/powerpoint/2010/main" val="400007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CEFD6-3E58-A69C-5AA9-AB2F3EA1C244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구매 정보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05EB2-0CDF-D04A-4E18-4642BF307CFB}"/>
              </a:ext>
            </a:extLst>
          </p:cNvPr>
          <p:cNvSpPr txBox="1"/>
          <p:nvPr/>
        </p:nvSpPr>
        <p:spPr>
          <a:xfrm>
            <a:off x="660400" y="106680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가성비 모델 예시와 확인 링크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97EF90-0FAE-F2E2-D6C5-D22E523C0A41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CF598E8-E740-E3C9-7C27-548D19E1ED85}"/>
              </a:ext>
            </a:extLst>
          </p:cNvPr>
          <p:cNvSpPr/>
          <p:nvPr/>
        </p:nvSpPr>
        <p:spPr>
          <a:xfrm>
            <a:off x="838200" y="1955800"/>
            <a:ext cx="4953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E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CF512-A86F-962F-735D-094DB6FDFCA5}"/>
              </a:ext>
            </a:extLst>
          </p:cNvPr>
          <p:cNvSpPr txBox="1"/>
          <p:nvPr/>
        </p:nvSpPr>
        <p:spPr>
          <a:xfrm>
            <a:off x="1193800" y="2336800"/>
            <a:ext cx="3810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900" b="1">
                <a:solidFill>
                  <a:srgbClr val="12181F"/>
                </a:solidFill>
                <a:latin typeface="맑은 고딕" panose="020B0503020000020004" pitchFamily="50" charset="-127"/>
              </a:rPr>
              <a:t>추천 예시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D63B2-C22F-9828-9F74-0134C6AC2593}"/>
              </a:ext>
            </a:extLst>
          </p:cNvPr>
          <p:cNvSpPr txBox="1"/>
          <p:nvPr/>
        </p:nvSpPr>
        <p:spPr>
          <a:xfrm>
            <a:off x="1193800" y="2857500"/>
            <a:ext cx="4064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Xiaomi </a:t>
            </a:r>
            <a:r>
              <a:rPr lang="ko-KR" altLang="en-US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로봇청소기 </a:t>
            </a:r>
            <a:r>
              <a:rPr lang="en-US" altLang="ko-KR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X20+</a:t>
            </a:r>
          </a:p>
          <a:p>
            <a:r>
              <a:rPr lang="ko-KR" altLang="en-US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공식</a:t>
            </a:r>
            <a:r>
              <a:rPr lang="en-US" altLang="ko-KR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가격비교 기준 </a:t>
            </a:r>
            <a:r>
              <a:rPr lang="en-US" altLang="ko-KR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419,000</a:t>
            </a:r>
            <a:r>
              <a:rPr lang="ko-KR" altLang="en-US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원대 확인</a:t>
            </a:r>
          </a:p>
          <a:p>
            <a:r>
              <a:rPr lang="en-US" altLang="ko-KR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200" b="1">
                <a:solidFill>
                  <a:srgbClr val="252D37"/>
                </a:solidFill>
                <a:latin typeface="맑은 고딕" panose="020B0503020000020004" pitchFamily="50" charset="-127"/>
              </a:rPr>
              <a:t>가격은 판매처와 시점에 따라 변동</a:t>
            </a:r>
          </a:p>
        </p:txBody>
      </p:sp>
      <p:sp>
        <p:nvSpPr>
          <p:cNvPr id="8" name="사각형: 둥근 모서리 7">
            <a:hlinkClick r:id="rId2"/>
            <a:extLst>
              <a:ext uri="{FF2B5EF4-FFF2-40B4-BE49-F238E27FC236}">
                <a16:creationId xmlns:a16="http://schemas.microsoft.com/office/drawing/2014/main" id="{C5B35CFA-909E-5954-A3E7-F49EED221C31}"/>
              </a:ext>
            </a:extLst>
          </p:cNvPr>
          <p:cNvSpPr/>
          <p:nvPr/>
        </p:nvSpPr>
        <p:spPr>
          <a:xfrm>
            <a:off x="1193800" y="4521200"/>
            <a:ext cx="2032000" cy="533400"/>
          </a:xfrm>
          <a:prstGeom prst="roundRect">
            <a:avLst>
              <a:gd name="adj" fmla="val 18000"/>
            </a:avLst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공식 구매 페이지</a:t>
            </a:r>
          </a:p>
        </p:txBody>
      </p:sp>
      <p:sp>
        <p:nvSpPr>
          <p:cNvPr id="9" name="사각형: 둥근 모서리 8">
            <a:hlinkClick r:id="rId3"/>
            <a:extLst>
              <a:ext uri="{FF2B5EF4-FFF2-40B4-BE49-F238E27FC236}">
                <a16:creationId xmlns:a16="http://schemas.microsoft.com/office/drawing/2014/main" id="{E7412708-EF66-BCC1-F80F-61F5B0A5BADE}"/>
              </a:ext>
            </a:extLst>
          </p:cNvPr>
          <p:cNvSpPr/>
          <p:nvPr/>
        </p:nvSpPr>
        <p:spPr>
          <a:xfrm>
            <a:off x="3429000" y="4521200"/>
            <a:ext cx="2032000" cy="533400"/>
          </a:xfrm>
          <a:prstGeom prst="roundRect">
            <a:avLst>
              <a:gd name="adj" fmla="val 18000"/>
            </a:avLst>
          </a:prstGeom>
          <a:solidFill>
            <a:srgbClr val="2B5C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다나와 가격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91B252-8D71-6838-8DE9-C70DF6848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098" y="2286000"/>
            <a:ext cx="233180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5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6FABF0-C79A-2351-433B-3867987F52DB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장점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7F39B-B9A7-6716-CF2F-5157B0F1E6AB}"/>
              </a:ext>
            </a:extLst>
          </p:cNvPr>
          <p:cNvSpPr txBox="1"/>
          <p:nvPr/>
        </p:nvSpPr>
        <p:spPr>
          <a:xfrm>
            <a:off x="660400" y="106680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일상 청소를 줄여주는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20A771-E58E-1632-0453-483C89869485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A61792-1D26-522A-B806-423B380EA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47" y="2465825"/>
            <a:ext cx="2673906" cy="2345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0C34D0-8AA8-E57F-F48D-7F66F1598248}"/>
              </a:ext>
            </a:extLst>
          </p:cNvPr>
          <p:cNvSpPr txBox="1"/>
          <p:nvPr/>
        </p:nvSpPr>
        <p:spPr>
          <a:xfrm>
            <a:off x="6350000" y="1955800"/>
            <a:ext cx="4699000" cy="307776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6,000Pa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흡입력으로 먼지와 머리카락 제거에 유리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180rpm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회전 물걸레로 생활 얼룩 관리 가능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자동 먼지 비움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물걸레 세척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공기 건조로 손이 덜 감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앱에서 방별 청소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예약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금지 구역을 세밀하게 설정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카펫 구역에서는 물걸레를 들어 올리는 기능 지원</a:t>
            </a:r>
          </a:p>
        </p:txBody>
      </p:sp>
    </p:spTree>
    <p:extLst>
      <p:ext uri="{BB962C8B-B14F-4D97-AF65-F5344CB8AC3E}">
        <p14:creationId xmlns:p14="http://schemas.microsoft.com/office/powerpoint/2010/main" val="205899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DD3B0E-53B8-7756-1EC0-F81C0EF4449C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단점과 주의점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D83ED-EBD0-CC2D-E623-57E9F7E942CE}"/>
              </a:ext>
            </a:extLst>
          </p:cNvPr>
          <p:cNvSpPr txBox="1"/>
          <p:nvPr/>
        </p:nvSpPr>
        <p:spPr>
          <a:xfrm>
            <a:off x="660400" y="106680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사기 전</a:t>
            </a:r>
            <a:r>
              <a:rPr lang="en-US" altLang="ko-KR" sz="1200">
                <a:solidFill>
                  <a:srgbClr val="525B6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쓰기 전 확인할 부분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A252F3-0040-58CF-248B-3BD0494A3A0F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12A0DDD-2C8C-9B35-87FB-51F79C0CC111}"/>
              </a:ext>
            </a:extLst>
          </p:cNvPr>
          <p:cNvSpPr/>
          <p:nvPr/>
        </p:nvSpPr>
        <p:spPr>
          <a:xfrm>
            <a:off x="889000" y="1955800"/>
            <a:ext cx="1041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E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C0262-5B25-553C-68E9-214559ADDE7B}"/>
              </a:ext>
            </a:extLst>
          </p:cNvPr>
          <p:cNvSpPr txBox="1"/>
          <p:nvPr/>
        </p:nvSpPr>
        <p:spPr>
          <a:xfrm>
            <a:off x="1397000" y="2438400"/>
            <a:ext cx="9398000" cy="192360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바닥에 전선</a:t>
            </a:r>
            <a:r>
              <a:rPr lang="en-US" altLang="ko-KR" sz="19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양말</a:t>
            </a:r>
            <a:r>
              <a:rPr lang="en-US" altLang="ko-KR" sz="19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얇은 매트가 많으면 청소가 중단될 수 있음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물걸레는 찌든 때 제거보다 매일 관리용에 가까움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스테이션 설치 공간과 콘센트 위치를 미리 확보해야 함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먼지봉투</a:t>
            </a:r>
            <a:r>
              <a:rPr lang="en-US" altLang="ko-KR" sz="19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필터</a:t>
            </a:r>
            <a:r>
              <a:rPr lang="en-US" altLang="ko-KR" sz="19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브러시</a:t>
            </a:r>
            <a:r>
              <a:rPr lang="en-US" altLang="ko-KR" sz="19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물걸레 패드 같은 소모품 교체 비용 발생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52D37"/>
                </a:solidFill>
                <a:latin typeface="맑은 고딕" panose="020B0503020000020004" pitchFamily="50" charset="-127"/>
              </a:rPr>
              <a:t>처음 맵을 만들 때는 문을 열고 장애물을 치워야 정확도가 좋아짐</a:t>
            </a:r>
          </a:p>
        </p:txBody>
      </p:sp>
    </p:spTree>
    <p:extLst>
      <p:ext uri="{BB962C8B-B14F-4D97-AF65-F5344CB8AC3E}">
        <p14:creationId xmlns:p14="http://schemas.microsoft.com/office/powerpoint/2010/main" val="157587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1C67DD-DFE8-23E4-A405-37D8DBF55516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사용법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BD766-4CF5-D455-68C6-7475DACA4801}"/>
              </a:ext>
            </a:extLst>
          </p:cNvPr>
          <p:cNvSpPr txBox="1"/>
          <p:nvPr/>
        </p:nvSpPr>
        <p:spPr>
          <a:xfrm>
            <a:off x="660400" y="109396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처음 설치부터 청소 시작까지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AA6213-3A6D-9127-16EF-DCB82F575140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ECA1CA1-B0E5-88A2-480B-1BE7562A6D4E}"/>
              </a:ext>
            </a:extLst>
          </p:cNvPr>
          <p:cNvSpPr/>
          <p:nvPr/>
        </p:nvSpPr>
        <p:spPr>
          <a:xfrm>
            <a:off x="685800" y="1905000"/>
            <a:ext cx="342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32582EA-062B-0B79-72B8-A9A56F603A85}"/>
              </a:ext>
            </a:extLst>
          </p:cNvPr>
          <p:cNvSpPr/>
          <p:nvPr/>
        </p:nvSpPr>
        <p:spPr>
          <a:xfrm>
            <a:off x="889000" y="2133600"/>
            <a:ext cx="431800" cy="431800"/>
          </a:xfrm>
          <a:prstGeom prst="ellipse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0C777-A22F-BA2E-0DCB-A06F6F7668BE}"/>
              </a:ext>
            </a:extLst>
          </p:cNvPr>
          <p:cNvSpPr txBox="1"/>
          <p:nvPr/>
        </p:nvSpPr>
        <p:spPr>
          <a:xfrm>
            <a:off x="1473200" y="21082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2181F"/>
                </a:solidFill>
                <a:latin typeface="맑은 고딕" panose="020B0503020000020004" pitchFamily="50" charset="-127"/>
              </a:rPr>
              <a:t>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ED3EB-29A7-5024-A343-C883529B734C}"/>
              </a:ext>
            </a:extLst>
          </p:cNvPr>
          <p:cNvSpPr txBox="1"/>
          <p:nvPr/>
        </p:nvSpPr>
        <p:spPr>
          <a:xfrm>
            <a:off x="1473200" y="2501900"/>
            <a:ext cx="23876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스테이션을 벽 가까이 두고 좌우 공간과 콘센트를 확보한다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4C56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AE293B8-649A-E89B-F4E1-949F611A5176}"/>
              </a:ext>
            </a:extLst>
          </p:cNvPr>
          <p:cNvSpPr/>
          <p:nvPr/>
        </p:nvSpPr>
        <p:spPr>
          <a:xfrm>
            <a:off x="4381500" y="1905000"/>
            <a:ext cx="342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B28D1D4-0749-B784-F0E7-AACD4629B391}"/>
              </a:ext>
            </a:extLst>
          </p:cNvPr>
          <p:cNvSpPr/>
          <p:nvPr/>
        </p:nvSpPr>
        <p:spPr>
          <a:xfrm>
            <a:off x="4584700" y="2133600"/>
            <a:ext cx="431800" cy="431800"/>
          </a:xfrm>
          <a:prstGeom prst="ellipse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A5F192-A53E-0090-83C4-E787E19C83ED}"/>
              </a:ext>
            </a:extLst>
          </p:cNvPr>
          <p:cNvSpPr txBox="1"/>
          <p:nvPr/>
        </p:nvSpPr>
        <p:spPr>
          <a:xfrm>
            <a:off x="5168900" y="21082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 dirty="0">
                <a:solidFill>
                  <a:srgbClr val="12181F"/>
                </a:solidFill>
                <a:latin typeface="맑은 고딕" panose="020B0503020000020004" pitchFamily="50" charset="-127"/>
              </a:rPr>
              <a:t>앱 연결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E4AE0-F496-FB33-3411-CA0E36F363C7}"/>
              </a:ext>
            </a:extLst>
          </p:cNvPr>
          <p:cNvSpPr txBox="1"/>
          <p:nvPr/>
        </p:nvSpPr>
        <p:spPr>
          <a:xfrm>
            <a:off x="5168900" y="2501900"/>
            <a:ext cx="23876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250" dirty="0">
                <a:solidFill>
                  <a:srgbClr val="4C5663"/>
                </a:solidFill>
                <a:latin typeface="맑은 고딕" panose="020B0503020000020004" pitchFamily="50" charset="-127"/>
              </a:rPr>
              <a:t>Xiaomi Home </a:t>
            </a:r>
            <a:r>
              <a:rPr lang="ko-KR" altLang="en-US" sz="1250" dirty="0">
                <a:solidFill>
                  <a:srgbClr val="4C5663"/>
                </a:solidFill>
                <a:latin typeface="맑은 고딕" panose="020B0503020000020004" pitchFamily="50" charset="-127"/>
              </a:rPr>
              <a:t>앱에서 기기를 추가하고 </a:t>
            </a:r>
            <a:r>
              <a:rPr lang="en-US" altLang="ko-KR" sz="1250" dirty="0">
                <a:solidFill>
                  <a:srgbClr val="4C5663"/>
                </a:solidFill>
                <a:latin typeface="맑은 고딕" panose="020B0503020000020004" pitchFamily="50" charset="-127"/>
              </a:rPr>
              <a:t>Wi-Fi</a:t>
            </a:r>
            <a:r>
              <a:rPr lang="ko-KR" altLang="en-US" sz="1250" dirty="0">
                <a:solidFill>
                  <a:srgbClr val="4C5663"/>
                </a:solidFill>
                <a:latin typeface="맑은 고딕" panose="020B0503020000020004" pitchFamily="50" charset="-127"/>
              </a:rPr>
              <a:t>에 연결한다</a:t>
            </a:r>
            <a:r>
              <a:rPr lang="en-US" altLang="ko-KR" sz="1250" dirty="0">
                <a:solidFill>
                  <a:srgbClr val="4C56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 dirty="0">
              <a:solidFill>
                <a:srgbClr val="4C56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33F1427-89FE-0F77-18B9-A19C7601C31A}"/>
              </a:ext>
            </a:extLst>
          </p:cNvPr>
          <p:cNvSpPr/>
          <p:nvPr/>
        </p:nvSpPr>
        <p:spPr>
          <a:xfrm>
            <a:off x="8077200" y="1905000"/>
            <a:ext cx="342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A05BD5D-881B-14B0-C854-390DDAF0CE95}"/>
              </a:ext>
            </a:extLst>
          </p:cNvPr>
          <p:cNvSpPr/>
          <p:nvPr/>
        </p:nvSpPr>
        <p:spPr>
          <a:xfrm>
            <a:off x="8280400" y="2133600"/>
            <a:ext cx="431800" cy="431800"/>
          </a:xfrm>
          <a:prstGeom prst="ellipse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E196C5-7A34-ABF7-AC10-91ED6AC60D6F}"/>
              </a:ext>
            </a:extLst>
          </p:cNvPr>
          <p:cNvSpPr txBox="1"/>
          <p:nvPr/>
        </p:nvSpPr>
        <p:spPr>
          <a:xfrm>
            <a:off x="8864600" y="21082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2181F"/>
                </a:solidFill>
                <a:latin typeface="맑은 고딕" panose="020B0503020000020004" pitchFamily="50" charset="-127"/>
              </a:rPr>
              <a:t>지도 생성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20D705-F2A1-B911-26CC-82260A14235A}"/>
              </a:ext>
            </a:extLst>
          </p:cNvPr>
          <p:cNvSpPr txBox="1"/>
          <p:nvPr/>
        </p:nvSpPr>
        <p:spPr>
          <a:xfrm>
            <a:off x="8864600" y="2501900"/>
            <a:ext cx="23876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첫 청소 전 바닥 물건을 치우고 전체 맵을 만든다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4C56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CFA682E-CFD5-B910-26F2-1609395810D4}"/>
              </a:ext>
            </a:extLst>
          </p:cNvPr>
          <p:cNvSpPr/>
          <p:nvPr/>
        </p:nvSpPr>
        <p:spPr>
          <a:xfrm>
            <a:off x="685800" y="3835400"/>
            <a:ext cx="342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54CBA56-E352-AAD4-8E8A-F1758FC0BBD0}"/>
              </a:ext>
            </a:extLst>
          </p:cNvPr>
          <p:cNvSpPr/>
          <p:nvPr/>
        </p:nvSpPr>
        <p:spPr>
          <a:xfrm>
            <a:off x="889000" y="4064000"/>
            <a:ext cx="431800" cy="431800"/>
          </a:xfrm>
          <a:prstGeom prst="ellipse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71CF1-D850-A0C7-356C-DE6895F26E68}"/>
              </a:ext>
            </a:extLst>
          </p:cNvPr>
          <p:cNvSpPr txBox="1"/>
          <p:nvPr/>
        </p:nvSpPr>
        <p:spPr>
          <a:xfrm>
            <a:off x="1473200" y="40386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2181F"/>
                </a:solidFill>
                <a:latin typeface="맑은 고딕" panose="020B0503020000020004" pitchFamily="50" charset="-127"/>
              </a:rPr>
              <a:t>청소 설정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C51A70-73F9-3C74-4DE1-0F0FD699E5C7}"/>
              </a:ext>
            </a:extLst>
          </p:cNvPr>
          <p:cNvSpPr txBox="1"/>
          <p:nvPr/>
        </p:nvSpPr>
        <p:spPr>
          <a:xfrm>
            <a:off x="1473200" y="4432300"/>
            <a:ext cx="23876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방 이름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금지 구역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카펫 구역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흡입력과 물량을 설정한다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4C56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B0B6BAD-BDB6-AF58-9735-EDB8F9793266}"/>
              </a:ext>
            </a:extLst>
          </p:cNvPr>
          <p:cNvSpPr/>
          <p:nvPr/>
        </p:nvSpPr>
        <p:spPr>
          <a:xfrm>
            <a:off x="4381500" y="3835400"/>
            <a:ext cx="342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A69C41F-F8CF-CF51-EC47-D18E5D5137FA}"/>
              </a:ext>
            </a:extLst>
          </p:cNvPr>
          <p:cNvSpPr/>
          <p:nvPr/>
        </p:nvSpPr>
        <p:spPr>
          <a:xfrm>
            <a:off x="4584700" y="4064000"/>
            <a:ext cx="431800" cy="431800"/>
          </a:xfrm>
          <a:prstGeom prst="ellipse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7E5536-6753-D531-BA4A-53D4F839595E}"/>
              </a:ext>
            </a:extLst>
          </p:cNvPr>
          <p:cNvSpPr txBox="1"/>
          <p:nvPr/>
        </p:nvSpPr>
        <p:spPr>
          <a:xfrm>
            <a:off x="5168900" y="40386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2181F"/>
                </a:solidFill>
                <a:latin typeface="맑은 고딕" panose="020B0503020000020004" pitchFamily="50" charset="-127"/>
              </a:rPr>
              <a:t>청소 실행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015EC-195D-DA8A-4F69-7AD6A2241692}"/>
              </a:ext>
            </a:extLst>
          </p:cNvPr>
          <p:cNvSpPr txBox="1"/>
          <p:nvPr/>
        </p:nvSpPr>
        <p:spPr>
          <a:xfrm>
            <a:off x="5168900" y="4432300"/>
            <a:ext cx="23876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전체 청소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구역 청소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예약 청소 중 필요한 방식을 선택한다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4C56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D79C08F-4C79-8C16-12D3-9E5A816C7E1C}"/>
              </a:ext>
            </a:extLst>
          </p:cNvPr>
          <p:cNvSpPr/>
          <p:nvPr/>
        </p:nvSpPr>
        <p:spPr>
          <a:xfrm>
            <a:off x="8077200" y="3835400"/>
            <a:ext cx="342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023F185-F544-8162-F808-0FB4E422EB1A}"/>
              </a:ext>
            </a:extLst>
          </p:cNvPr>
          <p:cNvSpPr/>
          <p:nvPr/>
        </p:nvSpPr>
        <p:spPr>
          <a:xfrm>
            <a:off x="8280400" y="4064000"/>
            <a:ext cx="431800" cy="431800"/>
          </a:xfrm>
          <a:prstGeom prst="ellipse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2D2E86-8924-FC6F-D77B-783081146A37}"/>
              </a:ext>
            </a:extLst>
          </p:cNvPr>
          <p:cNvSpPr txBox="1"/>
          <p:nvPr/>
        </p:nvSpPr>
        <p:spPr>
          <a:xfrm>
            <a:off x="8864600" y="40386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2181F"/>
                </a:solidFill>
                <a:latin typeface="맑은 고딕" panose="020B0503020000020004" pitchFamily="50" charset="-127"/>
              </a:rPr>
              <a:t>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E0248D-245B-C3DD-F960-22D0EA0457FD}"/>
              </a:ext>
            </a:extLst>
          </p:cNvPr>
          <p:cNvSpPr txBox="1"/>
          <p:nvPr/>
        </p:nvSpPr>
        <p:spPr>
          <a:xfrm>
            <a:off x="8864600" y="4432300"/>
            <a:ext cx="23876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먼지봉투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물통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필터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브러시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4C5663"/>
                </a:solidFill>
                <a:latin typeface="맑은 고딕" panose="020B0503020000020004" pitchFamily="50" charset="-127"/>
              </a:rPr>
              <a:t>센서를 주기적으로 확인한다</a:t>
            </a:r>
            <a:r>
              <a:rPr lang="en-US" altLang="ko-KR" sz="1250">
                <a:solidFill>
                  <a:srgbClr val="4C56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4C566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2643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D16E1D-2423-CA96-5110-E300CAD7898C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시연 동영상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BF7EE-C3BF-E05A-EC65-12846991C903}"/>
              </a:ext>
            </a:extLst>
          </p:cNvPr>
          <p:cNvSpPr txBox="1"/>
          <p:nvPr/>
        </p:nvSpPr>
        <p:spPr>
          <a:xfrm>
            <a:off x="660400" y="106680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유튜브 링크로 사용 장면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F52CEF-D2EF-AA24-E50D-18A2781C6088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2FA698-512D-51F7-E9B9-B0A9FB932695}"/>
              </a:ext>
            </a:extLst>
          </p:cNvPr>
          <p:cNvSpPr/>
          <p:nvPr/>
        </p:nvSpPr>
        <p:spPr>
          <a:xfrm>
            <a:off x="889000" y="1981200"/>
            <a:ext cx="5334000" cy="311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E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75C7F-CCD2-2CCC-5DDD-EAEF586F0D40}"/>
              </a:ext>
            </a:extLst>
          </p:cNvPr>
          <p:cNvSpPr txBox="1"/>
          <p:nvPr/>
        </p:nvSpPr>
        <p:spPr>
          <a:xfrm>
            <a:off x="1295400" y="2362200"/>
            <a:ext cx="4318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100" b="1">
                <a:solidFill>
                  <a:srgbClr val="12181F"/>
                </a:solidFill>
                <a:latin typeface="맑은 고딕" panose="020B0503020000020004" pitchFamily="50" charset="-127"/>
              </a:rPr>
              <a:t>시연 영상에서 확인할 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C32F1-8BC5-C621-7584-660ACA088BBB}"/>
              </a:ext>
            </a:extLst>
          </p:cNvPr>
          <p:cNvSpPr txBox="1"/>
          <p:nvPr/>
        </p:nvSpPr>
        <p:spPr>
          <a:xfrm>
            <a:off x="1295400" y="2946400"/>
            <a:ext cx="4318000" cy="135678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600">
                <a:solidFill>
                  <a:srgbClr val="252D37"/>
                </a:solidFill>
                <a:latin typeface="맑은 고딕" panose="020B0503020000020004" pitchFamily="50" charset="-127"/>
              </a:rPr>
              <a:t>실제 바닥에서 이동하는 방식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600">
                <a:solidFill>
                  <a:srgbClr val="252D37"/>
                </a:solidFill>
                <a:latin typeface="맑은 고딕" panose="020B0503020000020004" pitchFamily="50" charset="-127"/>
              </a:rPr>
              <a:t>앱 지도와 구역 청소 화면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600">
                <a:solidFill>
                  <a:srgbClr val="252D37"/>
                </a:solidFill>
                <a:latin typeface="맑은 고딕" panose="020B0503020000020004" pitchFamily="50" charset="-127"/>
              </a:rPr>
              <a:t>물걸레 청소와 스테이션 복귀 과정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600">
                <a:solidFill>
                  <a:srgbClr val="252D37"/>
                </a:solidFill>
                <a:latin typeface="맑은 고딕" panose="020B0503020000020004" pitchFamily="50" charset="-127"/>
              </a:rPr>
              <a:t>청소 전 바닥 정리가 왜 필요한지</a:t>
            </a:r>
          </a:p>
        </p:txBody>
      </p:sp>
      <p:sp>
        <p:nvSpPr>
          <p:cNvPr id="8" name="사각형: 둥근 모서리 7">
            <a:hlinkClick r:id="rId2"/>
            <a:extLst>
              <a:ext uri="{FF2B5EF4-FFF2-40B4-BE49-F238E27FC236}">
                <a16:creationId xmlns:a16="http://schemas.microsoft.com/office/drawing/2014/main" id="{F0C0F47F-A65C-67ED-29F8-CBA7EC8B257B}"/>
              </a:ext>
            </a:extLst>
          </p:cNvPr>
          <p:cNvSpPr/>
          <p:nvPr/>
        </p:nvSpPr>
        <p:spPr>
          <a:xfrm>
            <a:off x="1295400" y="4495800"/>
            <a:ext cx="2717800" cy="533400"/>
          </a:xfrm>
          <a:prstGeom prst="roundRect">
            <a:avLst>
              <a:gd name="adj" fmla="val 18000"/>
            </a:avLst>
          </a:prstGeom>
          <a:solidFill>
            <a:srgbClr val="CD35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YouTube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시연 영상 열기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B8AB3B-D54F-76EC-3D15-AED2A1C1C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929" y="3231754"/>
            <a:ext cx="1804141" cy="648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6FB92-453C-5A61-1FAB-EBECB24DB7CF}"/>
              </a:ext>
            </a:extLst>
          </p:cNvPr>
          <p:cNvSpPr txBox="1"/>
          <p:nvPr/>
        </p:nvSpPr>
        <p:spPr>
          <a:xfrm>
            <a:off x="1066800" y="5562600"/>
            <a:ext cx="10160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200">
                <a:solidFill>
                  <a:srgbClr val="4B5664"/>
                </a:solidFill>
                <a:latin typeface="맑은 고딕" panose="020B0503020000020004" pitchFamily="50" charset="-127"/>
              </a:rPr>
              <a:t>https://www.youtube.com/watch?v=0wtwbwLYSvs</a:t>
            </a:r>
            <a:endParaRPr lang="ko-KR" altLang="en-US" sz="1200">
              <a:solidFill>
                <a:srgbClr val="4B566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449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81163-0B6B-E125-1BD4-C4D7FFEB4EE6}"/>
              </a:ext>
            </a:extLst>
          </p:cNvPr>
          <p:cNvSpPr txBox="1"/>
          <p:nvPr/>
        </p:nvSpPr>
        <p:spPr>
          <a:xfrm>
            <a:off x="609600" y="431800"/>
            <a:ext cx="10414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800" b="1">
                <a:solidFill>
                  <a:srgbClr val="12181F"/>
                </a:solidFill>
                <a:latin typeface="맑은 고딕" panose="020B0503020000020004" pitchFamily="50" charset="-127"/>
              </a:rPr>
              <a:t>출처와 마무리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CBD08-1522-F411-1972-D785BB119BEB}"/>
              </a:ext>
            </a:extLst>
          </p:cNvPr>
          <p:cNvSpPr txBox="1"/>
          <p:nvPr/>
        </p:nvSpPr>
        <p:spPr>
          <a:xfrm>
            <a:off x="660400" y="1066800"/>
            <a:ext cx="99060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>
                <a:solidFill>
                  <a:srgbClr val="525B69"/>
                </a:solidFill>
                <a:latin typeface="맑은 고딕" panose="020B0503020000020004" pitchFamily="50" charset="-127"/>
              </a:rPr>
              <a:t>실습 파일 안의 링크는 클릭해서 열 수 있습니다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F81631-73A5-8508-D615-FD91FE0C114B}"/>
              </a:ext>
            </a:extLst>
          </p:cNvPr>
          <p:cNvSpPr/>
          <p:nvPr/>
        </p:nvSpPr>
        <p:spPr>
          <a:xfrm>
            <a:off x="660400" y="1549400"/>
            <a:ext cx="1066800" cy="50800"/>
          </a:xfrm>
          <a:prstGeom prst="rect">
            <a:avLst/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44BAB-4AD0-82F8-4BDD-5583BED75968}"/>
              </a:ext>
            </a:extLst>
          </p:cNvPr>
          <p:cNvSpPr txBox="1"/>
          <p:nvPr/>
        </p:nvSpPr>
        <p:spPr>
          <a:xfrm>
            <a:off x="990600" y="1981200"/>
            <a:ext cx="3048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2181F"/>
                </a:solidFill>
                <a:latin typeface="맑은 고딕" panose="020B0503020000020004" pitchFamily="50" charset="-127"/>
              </a:rPr>
              <a:t>핵심 정리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25316-21DF-A1B5-2A1E-BFF33E8AA936}"/>
              </a:ext>
            </a:extLst>
          </p:cNvPr>
          <p:cNvSpPr txBox="1"/>
          <p:nvPr/>
        </p:nvSpPr>
        <p:spPr>
          <a:xfrm>
            <a:off x="990600" y="2540000"/>
            <a:ext cx="5715000" cy="15901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로봇 청소기는 바닥 정리와 앱 설정을 잘할수록 만족도가 올라감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흡입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물걸레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자동 관리 기능을 생활 패턴에 맞춰 예약하면 효과적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구매 전에는 가격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AS,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소모품</a:t>
            </a:r>
            <a:r>
              <a:rPr lang="en-US" altLang="ko-KR" sz="1700">
                <a:solidFill>
                  <a:srgbClr val="252D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52D37"/>
                </a:solidFill>
                <a:latin typeface="맑은 고딕" panose="020B0503020000020004" pitchFamily="50" charset="-127"/>
              </a:rPr>
              <a:t>설치 공간을 함께 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C23EB-C924-6172-9376-1A165D56A385}"/>
              </a:ext>
            </a:extLst>
          </p:cNvPr>
          <p:cNvSpPr txBox="1"/>
          <p:nvPr/>
        </p:nvSpPr>
        <p:spPr>
          <a:xfrm>
            <a:off x="7366000" y="1981200"/>
            <a:ext cx="3048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2181F"/>
                </a:solidFill>
                <a:latin typeface="맑은 고딕" panose="020B0503020000020004" pitchFamily="50" charset="-127"/>
              </a:rPr>
              <a:t>자료 링크</a:t>
            </a:r>
          </a:p>
        </p:txBody>
      </p:sp>
      <p:sp>
        <p:nvSpPr>
          <p:cNvPr id="8" name="사각형: 둥근 모서리 7">
            <a:hlinkClick r:id="rId2"/>
            <a:extLst>
              <a:ext uri="{FF2B5EF4-FFF2-40B4-BE49-F238E27FC236}">
                <a16:creationId xmlns:a16="http://schemas.microsoft.com/office/drawing/2014/main" id="{A18B0A7E-E4B6-D365-BD8D-5BC967C04DA4}"/>
              </a:ext>
            </a:extLst>
          </p:cNvPr>
          <p:cNvSpPr/>
          <p:nvPr/>
        </p:nvSpPr>
        <p:spPr>
          <a:xfrm>
            <a:off x="7366000" y="2616200"/>
            <a:ext cx="2159000" cy="508000"/>
          </a:xfrm>
          <a:prstGeom prst="roundRect">
            <a:avLst>
              <a:gd name="adj" fmla="val 18000"/>
            </a:avLst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제품 공식 소개</a:t>
            </a:r>
          </a:p>
        </p:txBody>
      </p:sp>
      <p:sp>
        <p:nvSpPr>
          <p:cNvPr id="9" name="사각형: 둥근 모서리 8">
            <a:hlinkClick r:id="rId3"/>
            <a:extLst>
              <a:ext uri="{FF2B5EF4-FFF2-40B4-BE49-F238E27FC236}">
                <a16:creationId xmlns:a16="http://schemas.microsoft.com/office/drawing/2014/main" id="{05D881FB-314D-180D-B212-593C0D36346C}"/>
              </a:ext>
            </a:extLst>
          </p:cNvPr>
          <p:cNvSpPr/>
          <p:nvPr/>
        </p:nvSpPr>
        <p:spPr>
          <a:xfrm>
            <a:off x="7366000" y="3276600"/>
            <a:ext cx="2159000" cy="508000"/>
          </a:xfrm>
          <a:prstGeom prst="roundRect">
            <a:avLst>
              <a:gd name="adj" fmla="val 18000"/>
            </a:avLst>
          </a:prstGeom>
          <a:solidFill>
            <a:srgbClr val="1E84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공식 구매 링크</a:t>
            </a:r>
          </a:p>
        </p:txBody>
      </p:sp>
      <p:sp>
        <p:nvSpPr>
          <p:cNvPr id="10" name="사각형: 둥근 모서리 9">
            <a:hlinkClick r:id="rId4"/>
            <a:extLst>
              <a:ext uri="{FF2B5EF4-FFF2-40B4-BE49-F238E27FC236}">
                <a16:creationId xmlns:a16="http://schemas.microsoft.com/office/drawing/2014/main" id="{1E925670-AF67-6721-F921-CFA180276400}"/>
              </a:ext>
            </a:extLst>
          </p:cNvPr>
          <p:cNvSpPr/>
          <p:nvPr/>
        </p:nvSpPr>
        <p:spPr>
          <a:xfrm>
            <a:off x="7366000" y="3937000"/>
            <a:ext cx="2159000" cy="508000"/>
          </a:xfrm>
          <a:prstGeom prst="roundRect">
            <a:avLst>
              <a:gd name="adj" fmla="val 18000"/>
            </a:avLst>
          </a:prstGeom>
          <a:solidFill>
            <a:srgbClr val="2B5C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FAQ/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지원 문서</a:t>
            </a:r>
          </a:p>
        </p:txBody>
      </p:sp>
      <p:sp>
        <p:nvSpPr>
          <p:cNvPr id="11" name="사각형: 둥근 모서리 10">
            <a:hlinkClick r:id="rId5"/>
            <a:extLst>
              <a:ext uri="{FF2B5EF4-FFF2-40B4-BE49-F238E27FC236}">
                <a16:creationId xmlns:a16="http://schemas.microsoft.com/office/drawing/2014/main" id="{7B1FC718-12C4-9312-5A83-3CC75B1C4B29}"/>
              </a:ext>
            </a:extLst>
          </p:cNvPr>
          <p:cNvSpPr/>
          <p:nvPr/>
        </p:nvSpPr>
        <p:spPr>
          <a:xfrm>
            <a:off x="7366000" y="4597400"/>
            <a:ext cx="2159000" cy="508000"/>
          </a:xfrm>
          <a:prstGeom prst="roundRect">
            <a:avLst>
              <a:gd name="adj" fmla="val 18000"/>
            </a:avLst>
          </a:prstGeom>
          <a:solidFill>
            <a:srgbClr val="5860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가격 비교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5ACF58-7AE2-881F-95AC-077D115C3692}"/>
              </a:ext>
            </a:extLst>
          </p:cNvPr>
          <p:cNvSpPr txBox="1"/>
          <p:nvPr/>
        </p:nvSpPr>
        <p:spPr>
          <a:xfrm>
            <a:off x="990600" y="5740400"/>
            <a:ext cx="9144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717C89"/>
                </a:solidFill>
                <a:latin typeface="맑은 고딕" panose="020B0503020000020004" pitchFamily="50" charset="-127"/>
              </a:rPr>
              <a:t>사진</a:t>
            </a:r>
            <a:r>
              <a:rPr lang="en-US" altLang="ko-KR" sz="1300">
                <a:solidFill>
                  <a:srgbClr val="717C89"/>
                </a:solidFill>
                <a:latin typeface="맑은 고딕" panose="020B0503020000020004" pitchFamily="50" charset="-127"/>
              </a:rPr>
              <a:t>: Xiaomi </a:t>
            </a:r>
            <a:r>
              <a:rPr lang="ko-KR" altLang="en-US" sz="1300">
                <a:solidFill>
                  <a:srgbClr val="717C89"/>
                </a:solidFill>
                <a:latin typeface="맑은 고딕" panose="020B0503020000020004" pitchFamily="50" charset="-127"/>
              </a:rPr>
              <a:t>공식 제품 페이지 </a:t>
            </a:r>
            <a:r>
              <a:rPr lang="en-US" altLang="ko-KR" sz="1300">
                <a:solidFill>
                  <a:srgbClr val="717C89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>
                <a:solidFill>
                  <a:srgbClr val="717C89"/>
                </a:solidFill>
                <a:latin typeface="맑은 고딕" panose="020B0503020000020004" pitchFamily="50" charset="-127"/>
              </a:rPr>
              <a:t>영상</a:t>
            </a:r>
            <a:r>
              <a:rPr lang="en-US" altLang="ko-KR" sz="1300">
                <a:solidFill>
                  <a:srgbClr val="717C89"/>
                </a:solidFill>
                <a:latin typeface="맑은 고딕" panose="020B0503020000020004" pitchFamily="50" charset="-127"/>
              </a:rPr>
              <a:t>: YouTube</a:t>
            </a:r>
            <a:endParaRPr lang="ko-KR" altLang="en-US" sz="1300">
              <a:solidFill>
                <a:srgbClr val="717C8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02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441</Words>
  <Application>Microsoft Office PowerPoint</Application>
  <PresentationFormat>와이드스크린</PresentationFormat>
  <Paragraphs>78</Paragraphs>
  <Slides>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 park</dc:creator>
  <cp:lastModifiedBy>jong park</cp:lastModifiedBy>
  <cp:revision>3</cp:revision>
  <dcterms:created xsi:type="dcterms:W3CDTF">2026-06-16T04:03:27Z</dcterms:created>
  <dcterms:modified xsi:type="dcterms:W3CDTF">2026-06-16T04:17:45Z</dcterms:modified>
</cp:coreProperties>
</file>