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B20839-0649-BF1B-4B76-3D8768A27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CD0117-E3C1-CA55-9F1D-CDDC061FA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307166-9E39-BBEF-3DCE-509B7D964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3358-68BA-4138-B38C-F5A0E55144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688FA5-8AA1-7F5E-676B-9D3692C6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2CAC47-B1B8-5B3A-B42F-350D726D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B4B1A-781B-4278-99E8-5BDE38D30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4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358FB-D340-A3CB-B40A-CBFD86F9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AB3F8C-5CDF-3282-D709-A334D8263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8EED1F-3585-3CF1-743F-84F214B37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3358-68BA-4138-B38C-F5A0E55144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736B30-8070-CCAE-6532-F767433B4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F64F18-2AB2-2CDF-0B05-23915A9B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B4B1A-781B-4278-99E8-5BDE38D30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70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811BB-3E4D-2C06-B0F2-0A891C717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1C8DEB-8815-076C-A959-19374B614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3B732-535A-B914-07B2-55E6890D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3358-68BA-4138-B38C-F5A0E55144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FEF4EE-E76A-AC24-6CFF-E31A20540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377B4A-9646-A5D0-AAB8-F60D4058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B4B1A-781B-4278-99E8-5BDE38D30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87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0C1A0E-80A0-7988-019E-46C8990A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E5A528-472B-9AE8-EE91-BFC7E348B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24FD30-A586-32FF-83E7-FA82B9AE1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58572D-A7E7-DE0B-B333-53A7C213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3358-68BA-4138-B38C-F5A0E55144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2DDAAE-C04E-21FB-0F32-9DAF4B75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556E01-02C6-4537-A549-04F8FABB7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B4B1A-781B-4278-99E8-5BDE38D30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668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D7910-835A-8A11-BD50-ACA5BDF4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1883D8-6D58-00F3-68D7-68FB2F070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359BD-EAF5-90FF-DFD2-2B243DD4B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C4ED4A-3FC2-59AD-6910-153B5C4567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056BC0-6427-59FA-60E5-9BDDC6205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EDE169-7844-24BC-0A08-59B08E78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3358-68BA-4138-B38C-F5A0E55144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8D7017-7454-5DF6-BB9C-455247AD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D208F1-DFA6-371D-234E-C22C3F621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B4B1A-781B-4278-99E8-5BDE38D30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02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A9711-6D0C-1F69-FD65-2F6CACEEB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DA347D-93FE-C9DB-B22E-4BEFE5EFE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3358-68BA-4138-B38C-F5A0E55144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3E96BF-A53E-54AC-7A41-6E4E98D5F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9BE242-E5F1-088E-0859-81C7C619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B4B1A-781B-4278-99E8-5BDE38D30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967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45549C-3BEE-5190-5049-84937050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3358-68BA-4138-B38C-F5A0E55144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DF4579-DE50-E944-376F-194FA6A1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9CEC43-D7F6-9EA3-018E-DECB7C5E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B4B1A-781B-4278-99E8-5BDE38D30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67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6B09ED-39AA-4EDA-DB9B-7F5BBB629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F1DF02-1D4A-FE55-CFAE-410E13EC8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D0A52E-9E13-6131-C196-57779DCF2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9EBDBF-05DF-C170-E6EC-3EC124331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3358-68BA-4138-B38C-F5A0E55144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024D87-A8F6-D548-40E9-56658851E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C24EEF-72C4-D9F6-4EC9-90804A58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B4B1A-781B-4278-99E8-5BDE38D30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369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E0FA2-9A7F-A8FD-B6F6-AFBE73F64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C2309A-DEAC-7433-9259-AC8B6CB88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4328CB-37CF-31CD-4E76-3AB4C4F61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B06925-188A-D32C-F3DF-75BAF68B2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3358-68BA-4138-B38C-F5A0E55144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0B6A8D-8C86-6773-02EF-7DADC97D0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675AB0-E559-9DCE-C400-C81FACE7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B4B1A-781B-4278-99E8-5BDE38D30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94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2CB90-02A9-095F-9FF5-34D54021B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BAB42C-85D0-FEDF-74FA-C82CD6664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E4F7FB-FEDC-4EB2-9777-6AF01707B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3358-68BA-4138-B38C-F5A0E55144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AA8AD5-3ADD-AF6E-BFEE-237F4D54B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465E86-6EF2-B110-C34D-46960710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B4B1A-781B-4278-99E8-5BDE38D30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5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4D9A1F-DC36-EC0F-A3CD-60904C43B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345F82-A146-BF4D-5E29-504EC69C0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B48E31-5498-1530-59CF-F9C4B81F6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3358-68BA-4138-B38C-F5A0E55144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337B8C-19C6-8352-092B-3090D676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0E0B3B-E7DA-B9E6-6C84-09CD840C1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B4B1A-781B-4278-99E8-5BDE38D30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45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D843E6-C586-D718-3953-DB7306115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9B90EE-EBB1-F292-6BD5-FDF868F39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2E9701-A569-169A-99D5-5948DEB9A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53358-68BA-4138-B38C-F5A0E551440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62B005-B3DE-D5DA-DCCD-7196685C6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F7D7BE-8453-B16C-1A63-FC383E228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B4B1A-781B-4278-99E8-5BDE38D30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26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dxLYB1v2j0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dxLYB1v2j0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622648-39FB-D46A-9D52-FFAAEB447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A646C11-EF96-DC44-7BC7-5F4B5A7C0B7E}"/>
              </a:ext>
            </a:extLst>
          </p:cNvPr>
          <p:cNvSpPr/>
          <p:nvPr/>
        </p:nvSpPr>
        <p:spPr>
          <a:xfrm>
            <a:off x="0" y="0"/>
            <a:ext cx="5461000" cy="6858000"/>
          </a:xfrm>
          <a:prstGeom prst="rect">
            <a:avLst/>
          </a:prstGeom>
          <a:solidFill>
            <a:srgbClr val="181411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72953-D679-33B4-88BB-49E01C75A34B}"/>
              </a:ext>
            </a:extLst>
          </p:cNvPr>
          <p:cNvSpPr txBox="1"/>
          <p:nvPr/>
        </p:nvSpPr>
        <p:spPr>
          <a:xfrm>
            <a:off x="660400" y="1447800"/>
            <a:ext cx="4191000" cy="127214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</a:rPr>
              <a:t>파인애플</a:t>
            </a:r>
          </a:p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</a:rPr>
              <a:t>스테이크 만들기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9CC0F-7AB6-F6FB-D489-FC4299CEEE6C}"/>
              </a:ext>
            </a:extLst>
          </p:cNvPr>
          <p:cNvSpPr txBox="1"/>
          <p:nvPr/>
        </p:nvSpPr>
        <p:spPr>
          <a:xfrm>
            <a:off x="736600" y="3276600"/>
            <a:ext cx="4216400" cy="88742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>
                <a:solidFill>
                  <a:srgbClr val="FFE8CD"/>
                </a:solidFill>
                <a:latin typeface="맑은 고딕" panose="020B0503020000020004" pitchFamily="50" charset="-127"/>
              </a:rPr>
              <a:t>영상 기반 요리 실습 </a:t>
            </a:r>
            <a:r>
              <a:rPr lang="en-US" altLang="ko-KR" sz="1700">
                <a:solidFill>
                  <a:srgbClr val="FFE8CD"/>
                </a:solidFill>
                <a:latin typeface="맑은 고딕" panose="020B0503020000020004" pitchFamily="50" charset="-127"/>
              </a:rPr>
              <a:t>PPT</a:t>
            </a:r>
          </a:p>
          <a:p>
            <a:r>
              <a:rPr lang="en-US" altLang="ko-KR" sz="1700">
                <a:solidFill>
                  <a:srgbClr val="FFE8CD"/>
                </a:solidFill>
                <a:latin typeface="맑은 고딕" panose="020B0503020000020004" pitchFamily="50" charset="-127"/>
              </a:rPr>
              <a:t>Outdoor Cooking The Juiciest Steaks with Pineapples!</a:t>
            </a:r>
            <a:endParaRPr lang="ko-KR" altLang="en-US" sz="1700">
              <a:solidFill>
                <a:srgbClr val="FFE8CD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hlinkClick r:id="rId3"/>
            <a:extLst>
              <a:ext uri="{FF2B5EF4-FFF2-40B4-BE49-F238E27FC236}">
                <a16:creationId xmlns:a16="http://schemas.microsoft.com/office/drawing/2014/main" id="{95D6AABF-6F80-0048-7DCC-DCC223D7D44D}"/>
              </a:ext>
            </a:extLst>
          </p:cNvPr>
          <p:cNvSpPr/>
          <p:nvPr/>
        </p:nvSpPr>
        <p:spPr>
          <a:xfrm>
            <a:off x="762000" y="4699000"/>
            <a:ext cx="2133600" cy="558800"/>
          </a:xfrm>
          <a:prstGeom prst="roundRect">
            <a:avLst>
              <a:gd name="adj" fmla="val 16000"/>
            </a:avLst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원본 영상 보기</a:t>
            </a:r>
          </a:p>
        </p:txBody>
      </p:sp>
    </p:spTree>
    <p:extLst>
      <p:ext uri="{BB962C8B-B14F-4D97-AF65-F5344CB8AC3E}">
        <p14:creationId xmlns:p14="http://schemas.microsoft.com/office/powerpoint/2010/main" val="4185443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7B53B2-60CD-DDE8-7189-7910BBF4D4A0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91C1F"/>
                </a:solidFill>
                <a:latin typeface="맑은 고딕" panose="020B0503020000020004" pitchFamily="50" charset="-127"/>
              </a:rPr>
              <a:t>요리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6B72C-CAB5-D73B-4CB8-D0A4EFF42774}"/>
              </a:ext>
            </a:extLst>
          </p:cNvPr>
          <p:cNvSpPr txBox="1"/>
          <p:nvPr/>
        </p:nvSpPr>
        <p:spPr>
          <a:xfrm>
            <a:off x="660400" y="1066800"/>
            <a:ext cx="9906000" cy="30264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300">
                <a:solidFill>
                  <a:srgbClr val="5C5249"/>
                </a:solidFill>
                <a:latin typeface="맑은 고딕" panose="020B0503020000020004" pitchFamily="50" charset="-127"/>
              </a:rPr>
              <a:t>야외에서 두툼한 스테이크와 파인애플을 함께 굽는 메뉴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073D6B-F17C-DD59-3AEB-9B22CD524E2C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7A3BA3-B1D3-03B3-6F9E-57E8EF6AB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206" y="2667235"/>
            <a:ext cx="2211787" cy="12441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77A6D0-67C7-C3D9-67A8-566BECFC0C08}"/>
              </a:ext>
            </a:extLst>
          </p:cNvPr>
          <p:cNvSpPr txBox="1"/>
          <p:nvPr/>
        </p:nvSpPr>
        <p:spPr>
          <a:xfrm>
            <a:off x="965200" y="2108200"/>
            <a:ext cx="4953000" cy="258788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고기의 묵직한 풍미와 파인애플의 단맛</a:t>
            </a:r>
            <a:r>
              <a:rPr lang="en-US" altLang="ko-KR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산미를 함께 살리는 요리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파인애플은 고기 잡내를 줄이고 달콤한 소스 느낌을 더함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영상은 야외 조리 분위기가 강하므로 발표용으로 시각적 효과가 좋음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실습에서는 팬</a:t>
            </a:r>
            <a:r>
              <a:rPr lang="en-US" altLang="ko-KR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그릴팬</a:t>
            </a:r>
            <a:r>
              <a:rPr lang="en-US" altLang="ko-KR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에어프라이어 등으로 응용 가능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BAE49B-C3BE-F67C-66F0-0D9CD49301D8}"/>
              </a:ext>
            </a:extLst>
          </p:cNvPr>
          <p:cNvSpPr txBox="1"/>
          <p:nvPr/>
        </p:nvSpPr>
        <p:spPr>
          <a:xfrm>
            <a:off x="990600" y="5435600"/>
            <a:ext cx="9906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400" b="1">
                <a:solidFill>
                  <a:srgbClr val="895B38"/>
                </a:solidFill>
                <a:latin typeface="맑은 고딕" panose="020B0503020000020004" pitchFamily="50" charset="-127"/>
              </a:rPr>
              <a:t>주의</a:t>
            </a:r>
            <a:r>
              <a:rPr lang="en-US" altLang="ko-KR" sz="1400" b="1">
                <a:solidFill>
                  <a:srgbClr val="895B3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400" b="1">
                <a:solidFill>
                  <a:srgbClr val="895B38"/>
                </a:solidFill>
                <a:latin typeface="맑은 고딕" panose="020B0503020000020004" pitchFamily="50" charset="-127"/>
              </a:rPr>
              <a:t>이 </a:t>
            </a:r>
            <a:r>
              <a:rPr lang="en-US" altLang="ko-KR" sz="1400" b="1">
                <a:solidFill>
                  <a:srgbClr val="895B38"/>
                </a:solidFill>
                <a:latin typeface="맑은 고딕" panose="020B0503020000020004" pitchFamily="50" charset="-127"/>
              </a:rPr>
              <a:t>PPT</a:t>
            </a:r>
            <a:r>
              <a:rPr lang="ko-KR" altLang="en-US" sz="1400" b="1">
                <a:solidFill>
                  <a:srgbClr val="895B38"/>
                </a:solidFill>
                <a:latin typeface="맑은 고딕" panose="020B0503020000020004" pitchFamily="50" charset="-127"/>
              </a:rPr>
              <a:t>는 영상 제목과 장면을 바탕으로 수업용 조리 흐름을 재구성한 자료입니다</a:t>
            </a:r>
            <a:r>
              <a:rPr lang="en-US" altLang="ko-KR" sz="1400" b="1">
                <a:solidFill>
                  <a:srgbClr val="895B38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 b="1">
              <a:solidFill>
                <a:srgbClr val="895B3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9581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E607A7-1D14-7F2D-ACA2-CC0B8A4258A0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91C1F"/>
                </a:solidFill>
                <a:latin typeface="맑은 고딕" panose="020B0503020000020004" pitchFamily="50" charset="-127"/>
              </a:rPr>
              <a:t>준비 재료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B24AF-571F-8E33-23CA-2246F802C4EE}"/>
              </a:ext>
            </a:extLst>
          </p:cNvPr>
          <p:cNvSpPr txBox="1"/>
          <p:nvPr/>
        </p:nvSpPr>
        <p:spPr>
          <a:xfrm>
            <a:off x="660400" y="1066800"/>
            <a:ext cx="9906000" cy="30264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C5249"/>
                </a:solidFill>
                <a:latin typeface="맑은 고딕" panose="020B0503020000020004" pitchFamily="50" charset="-127"/>
              </a:rPr>
              <a:t>2~3</a:t>
            </a:r>
            <a:r>
              <a:rPr lang="ko-KR" altLang="en-US" sz="1300">
                <a:solidFill>
                  <a:srgbClr val="5C5249"/>
                </a:solidFill>
                <a:latin typeface="맑은 고딕" panose="020B0503020000020004" pitchFamily="50" charset="-127"/>
              </a:rPr>
              <a:t>인분 기준 예시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573FF7-9D0A-33F5-E8D7-8D2D602F5D20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7B1235A-14F9-66EB-CDC3-3DCD83B107AF}"/>
              </a:ext>
            </a:extLst>
          </p:cNvPr>
          <p:cNvSpPr/>
          <p:nvPr/>
        </p:nvSpPr>
        <p:spPr>
          <a:xfrm>
            <a:off x="889000" y="19812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>
            <a:solidFill>
              <a:srgbClr val="E8D7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2262A-353D-0B20-9419-CDE17214D028}"/>
              </a:ext>
            </a:extLst>
          </p:cNvPr>
          <p:cNvSpPr txBox="1"/>
          <p:nvPr/>
        </p:nvSpPr>
        <p:spPr>
          <a:xfrm>
            <a:off x="1320800" y="2387600"/>
            <a:ext cx="3302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200" b="1">
                <a:solidFill>
                  <a:srgbClr val="1D1D1C"/>
                </a:solidFill>
                <a:latin typeface="맑은 고딕" panose="020B0503020000020004" pitchFamily="50" charset="-127"/>
              </a:rPr>
              <a:t>주재료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DD8C3-FBE1-0744-7339-27D6B30580A8}"/>
              </a:ext>
            </a:extLst>
          </p:cNvPr>
          <p:cNvSpPr txBox="1"/>
          <p:nvPr/>
        </p:nvSpPr>
        <p:spPr>
          <a:xfrm>
            <a:off x="1320800" y="2946400"/>
            <a:ext cx="3683000" cy="22929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두툼한 소고기 스테이크용 </a:t>
            </a:r>
            <a:r>
              <a:rPr lang="en-US" altLang="ko-KR" sz="1700">
                <a:solidFill>
                  <a:srgbClr val="2F2B27"/>
                </a:solidFill>
                <a:latin typeface="맑은 고딕" panose="020B0503020000020004" pitchFamily="50" charset="-127"/>
              </a:rPr>
              <a:t>2~3</a:t>
            </a: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장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파인애플 </a:t>
            </a:r>
            <a:r>
              <a:rPr lang="en-US" altLang="ko-KR" sz="1700">
                <a:solidFill>
                  <a:srgbClr val="2F2B27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개 또는 슬라이스 파인애플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소금</a:t>
            </a:r>
            <a:r>
              <a:rPr lang="en-US" altLang="ko-KR" sz="1700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후추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올리브오일 또는 식용유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버터</a:t>
            </a:r>
            <a:r>
              <a:rPr lang="en-US" altLang="ko-KR" sz="1700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마늘</a:t>
            </a:r>
            <a:r>
              <a:rPr lang="en-US" altLang="ko-KR" sz="1700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허브 선택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9BE3A98-A1D0-FB42-86A6-3C9093FEE7E5}"/>
              </a:ext>
            </a:extLst>
          </p:cNvPr>
          <p:cNvSpPr/>
          <p:nvPr/>
        </p:nvSpPr>
        <p:spPr>
          <a:xfrm>
            <a:off x="6604000" y="19812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>
            <a:solidFill>
              <a:srgbClr val="E8D7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C06E3F-1673-961A-071D-ED51DB94426C}"/>
              </a:ext>
            </a:extLst>
          </p:cNvPr>
          <p:cNvSpPr txBox="1"/>
          <p:nvPr/>
        </p:nvSpPr>
        <p:spPr>
          <a:xfrm>
            <a:off x="7035800" y="2387600"/>
            <a:ext cx="3302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200" b="1">
                <a:solidFill>
                  <a:srgbClr val="1D1D1C"/>
                </a:solidFill>
                <a:latin typeface="맑은 고딕" panose="020B0503020000020004" pitchFamily="50" charset="-127"/>
              </a:rPr>
              <a:t>도구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C19612-9E53-95AF-8B3F-D9BF31EBAFFA}"/>
              </a:ext>
            </a:extLst>
          </p:cNvPr>
          <p:cNvSpPr txBox="1"/>
          <p:nvPr/>
        </p:nvSpPr>
        <p:spPr>
          <a:xfrm>
            <a:off x="7035800" y="2946400"/>
            <a:ext cx="3683000" cy="17697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그릴 또는 두꺼운 팬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집게</a:t>
            </a:r>
            <a:r>
              <a:rPr lang="en-US" altLang="ko-KR" sz="1700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칼</a:t>
            </a:r>
            <a:r>
              <a:rPr lang="en-US" altLang="ko-KR" sz="1700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도마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키친타월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접시 또는 나무 보드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고기 온도계가 있으면 더 좋음</a:t>
            </a:r>
          </a:p>
        </p:txBody>
      </p:sp>
    </p:spTree>
    <p:extLst>
      <p:ext uri="{BB962C8B-B14F-4D97-AF65-F5344CB8AC3E}">
        <p14:creationId xmlns:p14="http://schemas.microsoft.com/office/powerpoint/2010/main" val="3359343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699C6E-E363-26AC-6CBC-5B5D2F0C06A7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91C1F"/>
                </a:solidFill>
                <a:latin typeface="맑은 고딕" panose="020B0503020000020004" pitchFamily="50" charset="-127"/>
              </a:rPr>
              <a:t>만드는 순서 </a:t>
            </a:r>
            <a:r>
              <a:rPr lang="en-US" altLang="ko-KR" sz="2900" b="1">
                <a:solidFill>
                  <a:srgbClr val="191C1F"/>
                </a:solidFill>
                <a:latin typeface="맑은 고딕" panose="020B0503020000020004" pitchFamily="50" charset="-127"/>
              </a:rPr>
              <a:t>1</a:t>
            </a:r>
            <a:endParaRPr lang="ko-KR" altLang="en-US" sz="2900" b="1">
              <a:solidFill>
                <a:srgbClr val="191C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D832C-1D74-BA59-1305-7736BF04C772}"/>
              </a:ext>
            </a:extLst>
          </p:cNvPr>
          <p:cNvSpPr txBox="1"/>
          <p:nvPr/>
        </p:nvSpPr>
        <p:spPr>
          <a:xfrm>
            <a:off x="660400" y="1066800"/>
            <a:ext cx="9906000" cy="30264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300">
                <a:solidFill>
                  <a:srgbClr val="5C5249"/>
                </a:solidFill>
                <a:latin typeface="맑은 고딕" panose="020B0503020000020004" pitchFamily="50" charset="-127"/>
              </a:rPr>
              <a:t>굽기 전 준비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D948A6-12F2-CADC-272D-554E085948FD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C3F8965-8BE8-A511-2E52-243F6A7A38EF}"/>
              </a:ext>
            </a:extLst>
          </p:cNvPr>
          <p:cNvSpPr/>
          <p:nvPr/>
        </p:nvSpPr>
        <p:spPr>
          <a:xfrm>
            <a:off x="685800" y="19558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D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E03F5E7-4BED-E7A1-7D07-E5BF16867AE1}"/>
              </a:ext>
            </a:extLst>
          </p:cNvPr>
          <p:cNvSpPr/>
          <p:nvPr/>
        </p:nvSpPr>
        <p:spPr>
          <a:xfrm>
            <a:off x="889000" y="2184400"/>
            <a:ext cx="431800" cy="431800"/>
          </a:xfrm>
          <a:prstGeom prst="ellipse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6B3DE-9865-0204-F1C4-1DB2C282DEE5}"/>
              </a:ext>
            </a:extLst>
          </p:cNvPr>
          <p:cNvSpPr txBox="1"/>
          <p:nvPr/>
        </p:nvSpPr>
        <p:spPr>
          <a:xfrm>
            <a:off x="1473200" y="2159000"/>
            <a:ext cx="24384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D1D1C"/>
                </a:solidFill>
                <a:latin typeface="맑은 고딕" panose="020B0503020000020004" pitchFamily="50" charset="-127"/>
              </a:rPr>
              <a:t>고기 물기 제거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0F5AB7-7181-DE19-9296-A1F54FEDCC8C}"/>
              </a:ext>
            </a:extLst>
          </p:cNvPr>
          <p:cNvSpPr txBox="1"/>
          <p:nvPr/>
        </p:nvSpPr>
        <p:spPr>
          <a:xfrm>
            <a:off x="1473200" y="2565400"/>
            <a:ext cx="2413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564C44"/>
                </a:solidFill>
                <a:latin typeface="맑은 고딕" panose="020B0503020000020004" pitchFamily="50" charset="-127"/>
              </a:rPr>
              <a:t>키친타월로 표면 수분을 닦아야 겉면이 잘 구워진다</a:t>
            </a:r>
            <a:r>
              <a:rPr lang="en-US" altLang="ko-KR" sz="1250">
                <a:solidFill>
                  <a:srgbClr val="564C44"/>
                </a:solidFill>
                <a:latin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564C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E3244F8-7835-2582-895F-E2E559BCF25D}"/>
              </a:ext>
            </a:extLst>
          </p:cNvPr>
          <p:cNvSpPr/>
          <p:nvPr/>
        </p:nvSpPr>
        <p:spPr>
          <a:xfrm>
            <a:off x="4381500" y="19558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D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566A046-6869-A12E-F781-FD9AC7B0105C}"/>
              </a:ext>
            </a:extLst>
          </p:cNvPr>
          <p:cNvSpPr/>
          <p:nvPr/>
        </p:nvSpPr>
        <p:spPr>
          <a:xfrm>
            <a:off x="4584700" y="2184400"/>
            <a:ext cx="431800" cy="431800"/>
          </a:xfrm>
          <a:prstGeom prst="ellipse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35B36-E81D-34B0-053C-85C22E8606FC}"/>
              </a:ext>
            </a:extLst>
          </p:cNvPr>
          <p:cNvSpPr txBox="1"/>
          <p:nvPr/>
        </p:nvSpPr>
        <p:spPr>
          <a:xfrm>
            <a:off x="5168900" y="2159000"/>
            <a:ext cx="24384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D1D1C"/>
                </a:solidFill>
                <a:latin typeface="맑은 고딕" panose="020B0503020000020004" pitchFamily="50" charset="-127"/>
              </a:rPr>
              <a:t>밑간하기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450A70-83C9-0070-4E2B-4003DC12DD7B}"/>
              </a:ext>
            </a:extLst>
          </p:cNvPr>
          <p:cNvSpPr txBox="1"/>
          <p:nvPr/>
        </p:nvSpPr>
        <p:spPr>
          <a:xfrm>
            <a:off x="5168900" y="2565400"/>
            <a:ext cx="2413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564C44"/>
                </a:solidFill>
                <a:latin typeface="맑은 고딕" panose="020B0503020000020004" pitchFamily="50" charset="-127"/>
              </a:rPr>
              <a:t>소금과 후추를 앞뒤로 뿌리고 오일을 얇게 발라둔다</a:t>
            </a:r>
            <a:r>
              <a:rPr lang="en-US" altLang="ko-KR" sz="1250">
                <a:solidFill>
                  <a:srgbClr val="564C44"/>
                </a:solidFill>
                <a:latin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564C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EF0526C-0D94-404C-BE36-123C288BF9B6}"/>
              </a:ext>
            </a:extLst>
          </p:cNvPr>
          <p:cNvSpPr/>
          <p:nvPr/>
        </p:nvSpPr>
        <p:spPr>
          <a:xfrm>
            <a:off x="8077200" y="19558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D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0A0AFBF-6B68-8F86-381B-9F3C55D51094}"/>
              </a:ext>
            </a:extLst>
          </p:cNvPr>
          <p:cNvSpPr/>
          <p:nvPr/>
        </p:nvSpPr>
        <p:spPr>
          <a:xfrm>
            <a:off x="8280400" y="2184400"/>
            <a:ext cx="431800" cy="431800"/>
          </a:xfrm>
          <a:prstGeom prst="ellipse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9938CB-15A7-1D88-B4C2-3EE78BDF92E8}"/>
              </a:ext>
            </a:extLst>
          </p:cNvPr>
          <p:cNvSpPr txBox="1"/>
          <p:nvPr/>
        </p:nvSpPr>
        <p:spPr>
          <a:xfrm>
            <a:off x="8864600" y="2159000"/>
            <a:ext cx="24384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D1D1C"/>
                </a:solidFill>
                <a:latin typeface="맑은 고딕" panose="020B0503020000020004" pitchFamily="50" charset="-127"/>
              </a:rPr>
              <a:t>파인애플 손질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0100D5-1B0C-BA34-38B2-DF0D5BA4821D}"/>
              </a:ext>
            </a:extLst>
          </p:cNvPr>
          <p:cNvSpPr txBox="1"/>
          <p:nvPr/>
        </p:nvSpPr>
        <p:spPr>
          <a:xfrm>
            <a:off x="8864600" y="2565400"/>
            <a:ext cx="2413000" cy="67967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564C44"/>
                </a:solidFill>
                <a:latin typeface="맑은 고딕" panose="020B0503020000020004" pitchFamily="50" charset="-127"/>
              </a:rPr>
              <a:t>껍질과 심을 제거하고 두툼한 링 또는 큼직한 조각으로 자른다</a:t>
            </a:r>
            <a:r>
              <a:rPr lang="en-US" altLang="ko-KR" sz="1250">
                <a:solidFill>
                  <a:srgbClr val="564C44"/>
                </a:solidFill>
                <a:latin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564C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A3740D8-E682-890C-8C60-BA2DE65A5162}"/>
              </a:ext>
            </a:extLst>
          </p:cNvPr>
          <p:cNvSpPr/>
          <p:nvPr/>
        </p:nvSpPr>
        <p:spPr>
          <a:xfrm>
            <a:off x="685800" y="40386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D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29E99CF-6491-5C37-9FCD-FC30B3E161F7}"/>
              </a:ext>
            </a:extLst>
          </p:cNvPr>
          <p:cNvSpPr/>
          <p:nvPr/>
        </p:nvSpPr>
        <p:spPr>
          <a:xfrm>
            <a:off x="889000" y="4267200"/>
            <a:ext cx="431800" cy="431800"/>
          </a:xfrm>
          <a:prstGeom prst="ellipse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9AC53A-B98D-0FA2-2558-172A49572A94}"/>
              </a:ext>
            </a:extLst>
          </p:cNvPr>
          <p:cNvSpPr txBox="1"/>
          <p:nvPr/>
        </p:nvSpPr>
        <p:spPr>
          <a:xfrm>
            <a:off x="1473200" y="4241800"/>
            <a:ext cx="24384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D1D1C"/>
                </a:solidFill>
                <a:latin typeface="맑은 고딕" panose="020B0503020000020004" pitchFamily="50" charset="-127"/>
              </a:rPr>
              <a:t>팬 예열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92B0A-8478-DDFE-AED5-E7DE6A094ABF}"/>
              </a:ext>
            </a:extLst>
          </p:cNvPr>
          <p:cNvSpPr txBox="1"/>
          <p:nvPr/>
        </p:nvSpPr>
        <p:spPr>
          <a:xfrm>
            <a:off x="1473200" y="4648200"/>
            <a:ext cx="2413000" cy="67967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564C44"/>
                </a:solidFill>
                <a:latin typeface="맑은 고딕" panose="020B0503020000020004" pitchFamily="50" charset="-127"/>
              </a:rPr>
              <a:t>팬이나 그릴을 충분히 달군 뒤 고기를 올려야 육즙이 덜 빠진다</a:t>
            </a:r>
            <a:r>
              <a:rPr lang="en-US" altLang="ko-KR" sz="1250">
                <a:solidFill>
                  <a:srgbClr val="564C44"/>
                </a:solidFill>
                <a:latin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564C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20FD7E8-99B2-87D5-41F5-B9AD55B43904}"/>
              </a:ext>
            </a:extLst>
          </p:cNvPr>
          <p:cNvSpPr/>
          <p:nvPr/>
        </p:nvSpPr>
        <p:spPr>
          <a:xfrm>
            <a:off x="4381500" y="40386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D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03BA3EF-8810-9171-C52C-75ABBF84CAA3}"/>
              </a:ext>
            </a:extLst>
          </p:cNvPr>
          <p:cNvSpPr/>
          <p:nvPr/>
        </p:nvSpPr>
        <p:spPr>
          <a:xfrm>
            <a:off x="4584700" y="4267200"/>
            <a:ext cx="431800" cy="431800"/>
          </a:xfrm>
          <a:prstGeom prst="ellipse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5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D2B101-4DE3-9352-77B6-E1211B638A37}"/>
              </a:ext>
            </a:extLst>
          </p:cNvPr>
          <p:cNvSpPr txBox="1"/>
          <p:nvPr/>
        </p:nvSpPr>
        <p:spPr>
          <a:xfrm>
            <a:off x="5168900" y="4241800"/>
            <a:ext cx="24384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D1D1C"/>
                </a:solidFill>
                <a:latin typeface="맑은 고딕" panose="020B0503020000020004" pitchFamily="50" charset="-127"/>
              </a:rPr>
              <a:t>곁들임 준비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1E0E59-4377-0CD1-DBC2-B0BF8AAD46F6}"/>
              </a:ext>
            </a:extLst>
          </p:cNvPr>
          <p:cNvSpPr txBox="1"/>
          <p:nvPr/>
        </p:nvSpPr>
        <p:spPr>
          <a:xfrm>
            <a:off x="5168900" y="4648200"/>
            <a:ext cx="2413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564C44"/>
                </a:solidFill>
                <a:latin typeface="맑은 고딕" panose="020B0503020000020004" pitchFamily="50" charset="-127"/>
              </a:rPr>
              <a:t>마늘</a:t>
            </a:r>
            <a:r>
              <a:rPr lang="en-US" altLang="ko-KR" sz="1250">
                <a:solidFill>
                  <a:srgbClr val="564C44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50">
                <a:solidFill>
                  <a:srgbClr val="564C44"/>
                </a:solidFill>
                <a:latin typeface="맑은 고딕" panose="020B0503020000020004" pitchFamily="50" charset="-127"/>
              </a:rPr>
              <a:t>허브</a:t>
            </a:r>
            <a:r>
              <a:rPr lang="en-US" altLang="ko-KR" sz="1250">
                <a:solidFill>
                  <a:srgbClr val="564C44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50">
                <a:solidFill>
                  <a:srgbClr val="564C44"/>
                </a:solidFill>
                <a:latin typeface="맑은 고딕" panose="020B0503020000020004" pitchFamily="50" charset="-127"/>
              </a:rPr>
              <a:t>버터를 준비하면 향을 더하기 쉽다</a:t>
            </a:r>
            <a:r>
              <a:rPr lang="en-US" altLang="ko-KR" sz="1250">
                <a:solidFill>
                  <a:srgbClr val="564C44"/>
                </a:solidFill>
                <a:latin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564C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FA2E68D-0396-00B9-EE6E-A3C342173F80}"/>
              </a:ext>
            </a:extLst>
          </p:cNvPr>
          <p:cNvSpPr/>
          <p:nvPr/>
        </p:nvSpPr>
        <p:spPr>
          <a:xfrm>
            <a:off x="8077200" y="40386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D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2F1EF8A-5D45-E8BB-AA5C-0287415D8A75}"/>
              </a:ext>
            </a:extLst>
          </p:cNvPr>
          <p:cNvSpPr/>
          <p:nvPr/>
        </p:nvSpPr>
        <p:spPr>
          <a:xfrm>
            <a:off x="8280400" y="4267200"/>
            <a:ext cx="431800" cy="431800"/>
          </a:xfrm>
          <a:prstGeom prst="ellipse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6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943704-DCE3-DA62-C2A8-9C784333F7FB}"/>
              </a:ext>
            </a:extLst>
          </p:cNvPr>
          <p:cNvSpPr txBox="1"/>
          <p:nvPr/>
        </p:nvSpPr>
        <p:spPr>
          <a:xfrm>
            <a:off x="8864600" y="4241800"/>
            <a:ext cx="24384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D1D1C"/>
                </a:solidFill>
                <a:latin typeface="맑은 고딕" panose="020B0503020000020004" pitchFamily="50" charset="-127"/>
              </a:rPr>
              <a:t>안전 확인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2C5891-8C14-8C55-9CE3-A63071F5EA13}"/>
              </a:ext>
            </a:extLst>
          </p:cNvPr>
          <p:cNvSpPr txBox="1"/>
          <p:nvPr/>
        </p:nvSpPr>
        <p:spPr>
          <a:xfrm>
            <a:off x="8864600" y="4648200"/>
            <a:ext cx="2413000" cy="67967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564C44"/>
                </a:solidFill>
                <a:latin typeface="맑은 고딕" panose="020B0503020000020004" pitchFamily="50" charset="-127"/>
              </a:rPr>
              <a:t>야외 조리 시 화기 주변 정리와 고기용</a:t>
            </a:r>
            <a:r>
              <a:rPr lang="en-US" altLang="ko-KR" sz="1250">
                <a:solidFill>
                  <a:srgbClr val="564C44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50">
                <a:solidFill>
                  <a:srgbClr val="564C44"/>
                </a:solidFill>
                <a:latin typeface="맑은 고딕" panose="020B0503020000020004" pitchFamily="50" charset="-127"/>
              </a:rPr>
              <a:t>과일용 도마 구분을 확인한다</a:t>
            </a:r>
            <a:r>
              <a:rPr lang="en-US" altLang="ko-KR" sz="1250">
                <a:solidFill>
                  <a:srgbClr val="564C44"/>
                </a:solidFill>
                <a:latin typeface="맑은 고딕" panose="020B0503020000020004" pitchFamily="50" charset="-127"/>
              </a:rPr>
              <a:t>.</a:t>
            </a:r>
            <a:endParaRPr lang="ko-KR" altLang="en-US" sz="1250">
              <a:solidFill>
                <a:srgbClr val="564C4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739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A14370-AD5F-3519-FC76-7D0544B680EB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91C1F"/>
                </a:solidFill>
                <a:latin typeface="맑은 고딕" panose="020B0503020000020004" pitchFamily="50" charset="-127"/>
              </a:rPr>
              <a:t>만드는 순서 </a:t>
            </a:r>
            <a:r>
              <a:rPr lang="en-US" altLang="ko-KR" sz="2900" b="1">
                <a:solidFill>
                  <a:srgbClr val="191C1F"/>
                </a:solidFill>
                <a:latin typeface="맑은 고딕" panose="020B0503020000020004" pitchFamily="50" charset="-127"/>
              </a:rPr>
              <a:t>2</a:t>
            </a:r>
            <a:endParaRPr lang="ko-KR" altLang="en-US" sz="2900" b="1">
              <a:solidFill>
                <a:srgbClr val="191C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77C6C-3C2B-409C-24D6-6104B58B7FAC}"/>
              </a:ext>
            </a:extLst>
          </p:cNvPr>
          <p:cNvSpPr txBox="1"/>
          <p:nvPr/>
        </p:nvSpPr>
        <p:spPr>
          <a:xfrm>
            <a:off x="660400" y="1066800"/>
            <a:ext cx="9906000" cy="30264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300">
                <a:solidFill>
                  <a:srgbClr val="5C5249"/>
                </a:solidFill>
                <a:latin typeface="맑은 고딕" panose="020B0503020000020004" pitchFamily="50" charset="-127"/>
              </a:rPr>
              <a:t>스테이크와 파인애플 굽기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45AC2F-7BB9-A15A-2EB6-9B13E1EB4111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AE9A98-429C-E65C-3304-7B56C6F7A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156" y="2856500"/>
            <a:ext cx="2509687" cy="14116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C742F3-9C9E-5304-A81C-1469514D5251}"/>
              </a:ext>
            </a:extLst>
          </p:cNvPr>
          <p:cNvSpPr txBox="1"/>
          <p:nvPr/>
        </p:nvSpPr>
        <p:spPr>
          <a:xfrm>
            <a:off x="6426200" y="1955800"/>
            <a:ext cx="4699000" cy="307776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고기를 센 불에서 앞뒤로 구워 겉면을 먼저 익힌다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두꺼운 고기는 중불로 낮춰 속까지 천천히 익힌다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파인애플은 고기 옆에서 살짝 눌어붙게 구워 단맛을 끌어낸다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버터</a:t>
            </a:r>
            <a:r>
              <a:rPr lang="en-US" altLang="ko-KR" sz="1700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마늘</a:t>
            </a:r>
            <a:r>
              <a:rPr lang="en-US" altLang="ko-KR" sz="1700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허브를 넣어 녹인 뒤 고기 위에 끼얹으면 풍미가 좋아짐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구운 고기는 바로 썰지 말고 </a:t>
            </a:r>
            <a:r>
              <a:rPr lang="en-US" altLang="ko-KR" sz="1700">
                <a:solidFill>
                  <a:srgbClr val="2F2B27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700">
                <a:solidFill>
                  <a:srgbClr val="2F2B27"/>
                </a:solidFill>
                <a:latin typeface="맑은 고딕" panose="020B0503020000020004" pitchFamily="50" charset="-127"/>
              </a:rPr>
              <a:t>분 정도 쉬게 한다</a:t>
            </a:r>
          </a:p>
        </p:txBody>
      </p:sp>
    </p:spTree>
    <p:extLst>
      <p:ext uri="{BB962C8B-B14F-4D97-AF65-F5344CB8AC3E}">
        <p14:creationId xmlns:p14="http://schemas.microsoft.com/office/powerpoint/2010/main" val="281165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61AF7A-FCD5-BA90-70FD-FD1D8410D136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91C1F"/>
                </a:solidFill>
                <a:latin typeface="맑은 고딕" panose="020B0503020000020004" pitchFamily="50" charset="-127"/>
              </a:rPr>
              <a:t>맛있게 만드는 포인트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A1E46-9EAC-6F20-B223-CFFE68FF8FFE}"/>
              </a:ext>
            </a:extLst>
          </p:cNvPr>
          <p:cNvSpPr txBox="1"/>
          <p:nvPr/>
        </p:nvSpPr>
        <p:spPr>
          <a:xfrm>
            <a:off x="660400" y="1066800"/>
            <a:ext cx="9906000" cy="30264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300">
                <a:solidFill>
                  <a:srgbClr val="5C5249"/>
                </a:solidFill>
                <a:latin typeface="맑은 고딕" panose="020B0503020000020004" pitchFamily="50" charset="-127"/>
              </a:rPr>
              <a:t>육즙</a:t>
            </a:r>
            <a:r>
              <a:rPr lang="en-US" altLang="ko-KR" sz="1300">
                <a:solidFill>
                  <a:srgbClr val="5C5249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5C5249"/>
                </a:solidFill>
                <a:latin typeface="맑은 고딕" panose="020B0503020000020004" pitchFamily="50" charset="-127"/>
              </a:rPr>
              <a:t>단맛</a:t>
            </a:r>
            <a:r>
              <a:rPr lang="en-US" altLang="ko-KR" sz="1300">
                <a:solidFill>
                  <a:srgbClr val="5C5249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5C5249"/>
                </a:solidFill>
                <a:latin typeface="맑은 고딕" panose="020B0503020000020004" pitchFamily="50" charset="-127"/>
              </a:rPr>
              <a:t>향을 살리는 핵심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9A9F62-5F03-BCF9-CB85-5C385C6EF8E1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D45AA90-E876-6F49-01D4-523C6DEB91DD}"/>
              </a:ext>
            </a:extLst>
          </p:cNvPr>
          <p:cNvSpPr/>
          <p:nvPr/>
        </p:nvSpPr>
        <p:spPr>
          <a:xfrm>
            <a:off x="914400" y="2032000"/>
            <a:ext cx="3048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D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2ED1D-3C36-9D7C-61BF-3B9EC0D359EE}"/>
              </a:ext>
            </a:extLst>
          </p:cNvPr>
          <p:cNvSpPr txBox="1"/>
          <p:nvPr/>
        </p:nvSpPr>
        <p:spPr>
          <a:xfrm>
            <a:off x="1320800" y="2489200"/>
            <a:ext cx="2032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BA5226"/>
                </a:solidFill>
                <a:latin typeface="맑은 고딕" panose="020B0503020000020004" pitchFamily="50" charset="-127"/>
              </a:rPr>
              <a:t>육즙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5248F-AC27-C253-208B-FF1962D6A10B}"/>
              </a:ext>
            </a:extLst>
          </p:cNvPr>
          <p:cNvSpPr txBox="1"/>
          <p:nvPr/>
        </p:nvSpPr>
        <p:spPr>
          <a:xfrm>
            <a:off x="1320800" y="3098800"/>
            <a:ext cx="2032000" cy="108747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ko-KR" altLang="en-US" sz="1600">
                <a:solidFill>
                  <a:srgbClr val="2F2B27"/>
                </a:solidFill>
                <a:latin typeface="맑은 고딕" panose="020B0503020000020004" pitchFamily="50" charset="-127"/>
              </a:rPr>
              <a:t>고기는 굽기 전 물기를 닦고</a:t>
            </a:r>
            <a:r>
              <a:rPr lang="en-US" altLang="ko-KR" sz="1600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F2B27"/>
                </a:solidFill>
                <a:latin typeface="맑은 고딕" panose="020B0503020000020004" pitchFamily="50" charset="-127"/>
              </a:rPr>
              <a:t>구운 뒤에는 잠깐 레스팅한다</a:t>
            </a:r>
            <a:r>
              <a:rPr lang="en-US" altLang="ko-KR" sz="1600">
                <a:solidFill>
                  <a:srgbClr val="2F2B27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F2B2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387A0E1-E730-A6FF-0050-C37611625E3B}"/>
              </a:ext>
            </a:extLst>
          </p:cNvPr>
          <p:cNvSpPr/>
          <p:nvPr/>
        </p:nvSpPr>
        <p:spPr>
          <a:xfrm>
            <a:off x="4572000" y="2032000"/>
            <a:ext cx="3048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D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4714CF-7D0C-61AC-7A33-ACEF8A77DD61}"/>
              </a:ext>
            </a:extLst>
          </p:cNvPr>
          <p:cNvSpPr txBox="1"/>
          <p:nvPr/>
        </p:nvSpPr>
        <p:spPr>
          <a:xfrm>
            <a:off x="4978400" y="2489200"/>
            <a:ext cx="2032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BA5226"/>
                </a:solidFill>
                <a:latin typeface="맑은 고딕" panose="020B0503020000020004" pitchFamily="50" charset="-127"/>
              </a:rPr>
              <a:t>파인애플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76419-7696-C9A6-7A82-99BFB2A0B672}"/>
              </a:ext>
            </a:extLst>
          </p:cNvPr>
          <p:cNvSpPr txBox="1"/>
          <p:nvPr/>
        </p:nvSpPr>
        <p:spPr>
          <a:xfrm>
            <a:off x="4978400" y="3098800"/>
            <a:ext cx="2032000" cy="84125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ko-KR" altLang="en-US" sz="1600">
                <a:solidFill>
                  <a:srgbClr val="2F2B27"/>
                </a:solidFill>
                <a:latin typeface="맑은 고딕" panose="020B0503020000020004" pitchFamily="50" charset="-127"/>
              </a:rPr>
              <a:t>과육을 너무 얇게 자르면 쉽게 무르므로 두툼하게 굽는다</a:t>
            </a:r>
            <a:r>
              <a:rPr lang="en-US" altLang="ko-KR" sz="1600">
                <a:solidFill>
                  <a:srgbClr val="2F2B27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F2B2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0207E85-4663-54FD-A991-70B98E29A639}"/>
              </a:ext>
            </a:extLst>
          </p:cNvPr>
          <p:cNvSpPr/>
          <p:nvPr/>
        </p:nvSpPr>
        <p:spPr>
          <a:xfrm>
            <a:off x="8229600" y="2032000"/>
            <a:ext cx="3048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D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28E391-933A-AED6-324C-163FFDCFDA54}"/>
              </a:ext>
            </a:extLst>
          </p:cNvPr>
          <p:cNvSpPr txBox="1"/>
          <p:nvPr/>
        </p:nvSpPr>
        <p:spPr>
          <a:xfrm>
            <a:off x="8636000" y="2489200"/>
            <a:ext cx="2032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BA5226"/>
                </a:solidFill>
                <a:latin typeface="맑은 고딕" panose="020B0503020000020004" pitchFamily="50" charset="-127"/>
              </a:rPr>
              <a:t>불 조절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D8F667-35EB-CD0C-DA6C-AD8A12AD6FF1}"/>
              </a:ext>
            </a:extLst>
          </p:cNvPr>
          <p:cNvSpPr txBox="1"/>
          <p:nvPr/>
        </p:nvSpPr>
        <p:spPr>
          <a:xfrm>
            <a:off x="8636000" y="3098800"/>
            <a:ext cx="2032000" cy="84125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ko-KR" altLang="en-US" sz="1600">
                <a:solidFill>
                  <a:srgbClr val="2F2B27"/>
                </a:solidFill>
                <a:latin typeface="맑은 고딕" panose="020B0503020000020004" pitchFamily="50" charset="-127"/>
              </a:rPr>
              <a:t>겉은 센 불</a:t>
            </a:r>
            <a:r>
              <a:rPr lang="en-US" altLang="ko-KR" sz="1600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F2B27"/>
                </a:solidFill>
                <a:latin typeface="맑은 고딕" panose="020B0503020000020004" pitchFamily="50" charset="-127"/>
              </a:rPr>
              <a:t>속은 중불</a:t>
            </a:r>
            <a:r>
              <a:rPr lang="en-US" altLang="ko-KR" sz="1600">
                <a:solidFill>
                  <a:srgbClr val="2F2B27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600">
                <a:solidFill>
                  <a:srgbClr val="2F2B27"/>
                </a:solidFill>
                <a:latin typeface="맑은 고딕" panose="020B0503020000020004" pitchFamily="50" charset="-127"/>
              </a:rPr>
              <a:t>탄 냄새가 나면 바로 불을 낮춘다</a:t>
            </a:r>
            <a:r>
              <a:rPr lang="en-US" altLang="ko-KR" sz="1600">
                <a:solidFill>
                  <a:srgbClr val="2F2B27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F2B2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864FB5-C23B-87E3-6482-3AB02FCDEC7F}"/>
              </a:ext>
            </a:extLst>
          </p:cNvPr>
          <p:cNvSpPr txBox="1"/>
          <p:nvPr/>
        </p:nvSpPr>
        <p:spPr>
          <a:xfrm>
            <a:off x="1320800" y="5461000"/>
            <a:ext cx="96520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895B38"/>
                </a:solidFill>
                <a:latin typeface="맑은 고딕" panose="020B0503020000020004" pitchFamily="50" charset="-127"/>
              </a:rPr>
              <a:t>덜 익은 고기가 걱정되면 중심 온도를 확인하거나 한 조각을 잘라 익힘 정도를 확인합니다</a:t>
            </a:r>
            <a:r>
              <a:rPr lang="en-US" altLang="ko-KR" sz="1700" b="1">
                <a:solidFill>
                  <a:srgbClr val="895B38"/>
                </a:solidFill>
                <a:latin typeface="맑은 고딕" panose="020B0503020000020004" pitchFamily="50" charset="-127"/>
              </a:rPr>
              <a:t>.</a:t>
            </a:r>
            <a:endParaRPr lang="ko-KR" altLang="en-US" sz="1700" b="1">
              <a:solidFill>
                <a:srgbClr val="895B3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7660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ED2DFE-EB43-0BEB-D255-7121EBE4D893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91C1F"/>
                </a:solidFill>
                <a:latin typeface="맑은 고딕" panose="020B0503020000020004" pitchFamily="50" charset="-127"/>
              </a:rPr>
              <a:t>플레이팅과 발표 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F5AEC-935C-91FE-F516-972B87A6263D}"/>
              </a:ext>
            </a:extLst>
          </p:cNvPr>
          <p:cNvSpPr txBox="1"/>
          <p:nvPr/>
        </p:nvSpPr>
        <p:spPr>
          <a:xfrm>
            <a:off x="660400" y="1066800"/>
            <a:ext cx="9906000" cy="30264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300">
                <a:solidFill>
                  <a:srgbClr val="5C5249"/>
                </a:solidFill>
                <a:latin typeface="맑은 고딕" panose="020B0503020000020004" pitchFamily="50" charset="-127"/>
              </a:rPr>
              <a:t>완성 장면을 맛있게 보여주기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5D4B70-2897-9539-625D-73F95D01B007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E6B03-0C3E-7084-348E-8061317AAD95}"/>
              </a:ext>
            </a:extLst>
          </p:cNvPr>
          <p:cNvSpPr txBox="1"/>
          <p:nvPr/>
        </p:nvSpPr>
        <p:spPr>
          <a:xfrm>
            <a:off x="990600" y="2032000"/>
            <a:ext cx="5842000" cy="267765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스테이크는 결 반대 방향으로 썰어 부드럽게 먹기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구운 파인애플을 고기 옆이나 위에 올려 색감을 살리기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육즙과 버터 소스를 살짝 뿌려 윤기 더하기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발표할 때는 </a:t>
            </a:r>
            <a:r>
              <a:rPr lang="en-US" altLang="ko-KR">
                <a:solidFill>
                  <a:srgbClr val="2F2B27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파인애플의 단맛과 산미가 고기와 어울린다</a:t>
            </a:r>
            <a:r>
              <a:rPr lang="en-US" altLang="ko-KR">
                <a:solidFill>
                  <a:srgbClr val="2F2B27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고 설명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야외 조리 영상의 분위기를 살려 자연</a:t>
            </a:r>
            <a:r>
              <a:rPr lang="en-US" altLang="ko-KR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불</a:t>
            </a:r>
            <a:r>
              <a:rPr lang="en-US" altLang="ko-KR">
                <a:solidFill>
                  <a:srgbClr val="2F2B2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2F2B27"/>
                </a:solidFill>
                <a:latin typeface="맑은 고딕" panose="020B0503020000020004" pitchFamily="50" charset="-127"/>
              </a:rPr>
              <a:t>고기 굽는 소리를 강조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35A6EB6-A8A7-92E0-66E0-0BDAF2ECD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516" y="2732146"/>
            <a:ext cx="2613168" cy="146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04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8F00E8-EFCE-2CBB-42D8-588BB483D6F9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91C1F"/>
                </a:solidFill>
                <a:latin typeface="맑은 고딕" panose="020B0503020000020004" pitchFamily="50" charset="-127"/>
              </a:rPr>
              <a:t>영상 삽입 </a:t>
            </a:r>
            <a:r>
              <a:rPr lang="en-US" altLang="ko-KR" sz="2900" b="1">
                <a:solidFill>
                  <a:srgbClr val="191C1F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2900" b="1">
                <a:solidFill>
                  <a:srgbClr val="191C1F"/>
                </a:solidFill>
                <a:latin typeface="맑은 고딕" panose="020B0503020000020004" pitchFamily="50" charset="-127"/>
              </a:rPr>
              <a:t>출처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C2676-EA84-788A-A0FD-AB45D039FD16}"/>
              </a:ext>
            </a:extLst>
          </p:cNvPr>
          <p:cNvSpPr txBox="1"/>
          <p:nvPr/>
        </p:nvSpPr>
        <p:spPr>
          <a:xfrm>
            <a:off x="660400" y="1066800"/>
            <a:ext cx="9906000" cy="30264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C5249"/>
                </a:solidFill>
                <a:latin typeface="맑은 고딕" panose="020B0503020000020004" pitchFamily="50" charset="-127"/>
              </a:rPr>
              <a:t>PowerPoint</a:t>
            </a:r>
            <a:r>
              <a:rPr lang="ko-KR" altLang="en-US" sz="1300">
                <a:solidFill>
                  <a:srgbClr val="5C5249"/>
                </a:solidFill>
                <a:latin typeface="맑은 고딕" panose="020B0503020000020004" pitchFamily="50" charset="-127"/>
              </a:rPr>
              <a:t>에서 온라인 비디오로 넣기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E23DCD-E5F2-CEE1-B47B-020E7983468E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BA5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31B034A-AC13-6BBA-882E-D4856EDFAB39}"/>
              </a:ext>
            </a:extLst>
          </p:cNvPr>
          <p:cNvSpPr/>
          <p:nvPr/>
        </p:nvSpPr>
        <p:spPr>
          <a:xfrm>
            <a:off x="990600" y="1955800"/>
            <a:ext cx="6604000" cy="3708400"/>
          </a:xfrm>
          <a:prstGeom prst="roundRect">
            <a:avLst>
              <a:gd name="adj" fmla="val 8000"/>
            </a:avLst>
          </a:prstGeom>
          <a:solidFill>
            <a:srgbClr val="231F1C"/>
          </a:solidFill>
          <a:ln>
            <a:solidFill>
              <a:srgbClr val="231F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FBF53A9-476D-867E-1C76-461B16F3E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017" y="2803922"/>
            <a:ext cx="3577166" cy="201215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9619EAD-37A1-28E3-8DAC-EC9BE9392D20}"/>
              </a:ext>
            </a:extLst>
          </p:cNvPr>
          <p:cNvSpPr/>
          <p:nvPr/>
        </p:nvSpPr>
        <p:spPr>
          <a:xfrm>
            <a:off x="990600" y="1955800"/>
            <a:ext cx="6604000" cy="3708400"/>
          </a:xfrm>
          <a:prstGeom prst="rect">
            <a:avLst/>
          </a:prstGeom>
          <a:solidFill>
            <a:srgbClr val="000000">
              <a:alpha val="54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7192117-4FC4-AEF9-EEC5-EFB63541C5AC}"/>
              </a:ext>
            </a:extLst>
          </p:cNvPr>
          <p:cNvSpPr/>
          <p:nvPr/>
        </p:nvSpPr>
        <p:spPr>
          <a:xfrm>
            <a:off x="3657600" y="3124200"/>
            <a:ext cx="1219200" cy="1219200"/>
          </a:xfrm>
          <a:prstGeom prst="ellipse">
            <a:avLst/>
          </a:prstGeom>
          <a:solidFill>
            <a:srgbClr val="CD41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9CA0E1-FFEB-0D78-EE63-785CCC385D93}"/>
              </a:ext>
            </a:extLst>
          </p:cNvPr>
          <p:cNvSpPr txBox="1"/>
          <p:nvPr/>
        </p:nvSpPr>
        <p:spPr>
          <a:xfrm>
            <a:off x="4025900" y="3365500"/>
            <a:ext cx="5588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ko-KR" altLang="en-US" sz="3200" b="1">
                <a:solidFill>
                  <a:srgbClr val="FFFFFF"/>
                </a:solidFill>
                <a:latin typeface="맑은 고딕" panose="020B0503020000020004" pitchFamily="50" charset="-127"/>
              </a:rPr>
              <a:t>▶</a:t>
            </a:r>
          </a:p>
        </p:txBody>
      </p:sp>
      <p:sp>
        <p:nvSpPr>
          <p:cNvPr id="11" name="사각형: 둥근 모서리 10">
            <a:hlinkClick r:id="rId3"/>
            <a:extLst>
              <a:ext uri="{FF2B5EF4-FFF2-40B4-BE49-F238E27FC236}">
                <a16:creationId xmlns:a16="http://schemas.microsoft.com/office/drawing/2014/main" id="{443E8DB0-4433-B92A-44A2-E64CEE3EC045}"/>
              </a:ext>
            </a:extLst>
          </p:cNvPr>
          <p:cNvSpPr/>
          <p:nvPr/>
        </p:nvSpPr>
        <p:spPr>
          <a:xfrm>
            <a:off x="8407400" y="2336800"/>
            <a:ext cx="2286000" cy="558800"/>
          </a:xfrm>
          <a:prstGeom prst="roundRect">
            <a:avLst>
              <a:gd name="adj" fmla="val 16000"/>
            </a:avLst>
          </a:prstGeom>
          <a:solidFill>
            <a:srgbClr val="CD41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YouTube 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영상 열기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4193A-4F7E-BD85-8B59-E85EE171A180}"/>
              </a:ext>
            </a:extLst>
          </p:cNvPr>
          <p:cNvSpPr txBox="1"/>
          <p:nvPr/>
        </p:nvSpPr>
        <p:spPr>
          <a:xfrm>
            <a:off x="8102600" y="3225800"/>
            <a:ext cx="3048000" cy="108747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600">
                <a:solidFill>
                  <a:srgbClr val="2F2B27"/>
                </a:solidFill>
                <a:latin typeface="맑은 고딕" panose="020B0503020000020004" pitchFamily="50" charset="-127"/>
              </a:rPr>
              <a:t>삽입 방법</a:t>
            </a:r>
            <a:r>
              <a:rPr lang="en-US" altLang="ko-KR" sz="1600">
                <a:solidFill>
                  <a:srgbClr val="2F2B27"/>
                </a:solidFill>
                <a:latin typeface="맑은 고딕" panose="020B0503020000020004" pitchFamily="50" charset="-127"/>
              </a:rPr>
              <a:t>:</a:t>
            </a:r>
          </a:p>
          <a:p>
            <a:r>
              <a:rPr lang="ko-KR" altLang="en-US" sz="1600">
                <a:solidFill>
                  <a:srgbClr val="2F2B27"/>
                </a:solidFill>
                <a:latin typeface="맑은 고딕" panose="020B0503020000020004" pitchFamily="50" charset="-127"/>
              </a:rPr>
              <a:t>삽입 </a:t>
            </a:r>
            <a:r>
              <a:rPr lang="en-US" altLang="ko-KR" sz="1600">
                <a:solidFill>
                  <a:srgbClr val="2F2B27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1600">
                <a:solidFill>
                  <a:srgbClr val="2F2B27"/>
                </a:solidFill>
                <a:latin typeface="맑은 고딕" panose="020B0503020000020004" pitchFamily="50" charset="-127"/>
              </a:rPr>
              <a:t>비디오 </a:t>
            </a:r>
            <a:r>
              <a:rPr lang="en-US" altLang="ko-KR" sz="1600">
                <a:solidFill>
                  <a:srgbClr val="2F2B27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1600">
                <a:solidFill>
                  <a:srgbClr val="2F2B27"/>
                </a:solidFill>
                <a:latin typeface="맑은 고딕" panose="020B0503020000020004" pitchFamily="50" charset="-127"/>
              </a:rPr>
              <a:t>온라인 비디오</a:t>
            </a:r>
          </a:p>
          <a:p>
            <a:r>
              <a:rPr lang="ko-KR" altLang="en-US" sz="1600">
                <a:solidFill>
                  <a:srgbClr val="2F2B27"/>
                </a:solidFill>
                <a:latin typeface="맑은 고딕" panose="020B0503020000020004" pitchFamily="50" charset="-127"/>
              </a:rPr>
              <a:t>아래 주소 붙여넣기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AB581B-2F4F-F31E-7F40-513FD780EAC9}"/>
              </a:ext>
            </a:extLst>
          </p:cNvPr>
          <p:cNvSpPr txBox="1"/>
          <p:nvPr/>
        </p:nvSpPr>
        <p:spPr>
          <a:xfrm>
            <a:off x="8102600" y="4597400"/>
            <a:ext cx="3302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ko-KR" sz="1200">
                <a:solidFill>
                  <a:srgbClr val="5C5249"/>
                </a:solidFill>
                <a:latin typeface="맑은 고딕" panose="020B0503020000020004" pitchFamily="50" charset="-127"/>
              </a:rPr>
              <a:t>https://www.youtube.com/watch?v=mdxLYB1v2j0</a:t>
            </a:r>
            <a:endParaRPr lang="ko-KR" altLang="en-US" sz="1200">
              <a:solidFill>
                <a:srgbClr val="5C524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2CD2E0-853A-4905-8894-A7FE3482901F}"/>
              </a:ext>
            </a:extLst>
          </p:cNvPr>
          <p:cNvSpPr txBox="1"/>
          <p:nvPr/>
        </p:nvSpPr>
        <p:spPr>
          <a:xfrm>
            <a:off x="1041400" y="5943600"/>
            <a:ext cx="9652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665B51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250">
                <a:solidFill>
                  <a:srgbClr val="665B51"/>
                </a:solidFill>
                <a:latin typeface="맑은 고딕" panose="020B0503020000020004" pitchFamily="50" charset="-127"/>
              </a:rPr>
              <a:t>: YouTube </a:t>
            </a:r>
            <a:r>
              <a:rPr lang="ko-KR" altLang="en-US" sz="1250">
                <a:solidFill>
                  <a:srgbClr val="665B51"/>
                </a:solidFill>
                <a:latin typeface="맑은 고딕" panose="020B0503020000020004" pitchFamily="50" charset="-127"/>
              </a:rPr>
              <a:t>영상 및 썸네일</a:t>
            </a:r>
          </a:p>
          <a:p>
            <a:r>
              <a:rPr lang="ko-KR" altLang="en-US" sz="1250">
                <a:solidFill>
                  <a:srgbClr val="665B51"/>
                </a:solidFill>
                <a:latin typeface="맑은 고딕" panose="020B0503020000020004" pitchFamily="50" charset="-127"/>
              </a:rPr>
              <a:t>영상 제목</a:t>
            </a:r>
            <a:r>
              <a:rPr lang="en-US" altLang="ko-KR" sz="1250">
                <a:solidFill>
                  <a:srgbClr val="665B51"/>
                </a:solidFill>
                <a:latin typeface="맑은 고딕" panose="020B0503020000020004" pitchFamily="50" charset="-127"/>
              </a:rPr>
              <a:t>: Outdoor Cooking The Juiciest Steaks with Pineapples!</a:t>
            </a:r>
            <a:endParaRPr lang="ko-KR" altLang="en-US" sz="1250">
              <a:solidFill>
                <a:srgbClr val="665B5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894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사용자 지정</PresentationFormat>
  <Paragraphs>79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 park</dc:creator>
  <cp:lastModifiedBy>jong park</cp:lastModifiedBy>
  <cp:revision>1</cp:revision>
  <dcterms:created xsi:type="dcterms:W3CDTF">2026-06-16T04:42:28Z</dcterms:created>
  <dcterms:modified xsi:type="dcterms:W3CDTF">2026-06-16T04:42:28Z</dcterms:modified>
</cp:coreProperties>
</file>